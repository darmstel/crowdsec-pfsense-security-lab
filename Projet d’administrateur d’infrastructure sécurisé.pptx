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9" r:id="rId1"/>
  </p:sldMasterIdLst>
  <p:sldIdLst>
    <p:sldId id="256" r:id="rId2"/>
    <p:sldId id="259" r:id="rId3"/>
    <p:sldId id="258" r:id="rId4"/>
    <p:sldId id="261" r:id="rId5"/>
    <p:sldId id="262" r:id="rId6"/>
    <p:sldId id="269" r:id="rId7"/>
    <p:sldId id="263" r:id="rId8"/>
    <p:sldId id="264" r:id="rId9"/>
    <p:sldId id="265" r:id="rId10"/>
    <p:sldId id="270" r:id="rId11"/>
    <p:sldId id="266" r:id="rId12"/>
    <p:sldId id="267" r:id="rId13"/>
    <p:sldId id="268" r:id="rId14"/>
    <p:sldId id="271" r:id="rId15"/>
    <p:sldId id="272" r:id="rId16"/>
    <p:sldId id="273" r:id="rId17"/>
    <p:sldId id="274" r:id="rId18"/>
    <p:sldId id="275" r:id="rId19"/>
    <p:sldId id="276" r:id="rId20"/>
    <p:sldId id="277" r:id="rId21"/>
    <p:sldId id="278" r:id="rId22"/>
    <p:sldId id="279" r:id="rId23"/>
    <p:sldId id="280"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8491" autoAdjust="0"/>
  </p:normalViewPr>
  <p:slideViewPr>
    <p:cSldViewPr snapToGrid="0">
      <p:cViewPr varScale="1">
        <p:scale>
          <a:sx n="76" d="100"/>
          <a:sy n="76" d="100"/>
        </p:scale>
        <p:origin x="54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F251FD91-6F2B-4D80-97EC-9FB8B20A8D9B}" type="datetimeFigureOut">
              <a:rPr lang="fr-FR" smtClean="0"/>
              <a:t>21/09/2024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1DF987B-20A4-4899-886D-F1E5CD9A48A7}" type="slidenum">
              <a:rPr lang="fr-FR" smtClean="0"/>
              <a:t>‹N°›</a:t>
            </a:fld>
            <a:endParaRPr lang="fr-FR"/>
          </a:p>
        </p:txBody>
      </p:sp>
    </p:spTree>
    <p:extLst>
      <p:ext uri="{BB962C8B-B14F-4D97-AF65-F5344CB8AC3E}">
        <p14:creationId xmlns:p14="http://schemas.microsoft.com/office/powerpoint/2010/main" val="881367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251FD91-6F2B-4D80-97EC-9FB8B20A8D9B}" type="datetimeFigureOut">
              <a:rPr lang="fr-FR" smtClean="0"/>
              <a:t>21/09/2024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1DF987B-20A4-4899-886D-F1E5CD9A48A7}" type="slidenum">
              <a:rPr lang="fr-FR" smtClean="0"/>
              <a:t>‹N°›</a:t>
            </a:fld>
            <a:endParaRPr lang="fr-FR"/>
          </a:p>
        </p:txBody>
      </p:sp>
    </p:spTree>
    <p:extLst>
      <p:ext uri="{BB962C8B-B14F-4D97-AF65-F5344CB8AC3E}">
        <p14:creationId xmlns:p14="http://schemas.microsoft.com/office/powerpoint/2010/main" val="19001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F251FD91-6F2B-4D80-97EC-9FB8B20A8D9B}" type="datetimeFigureOut">
              <a:rPr lang="fr-FR" smtClean="0"/>
              <a:t>21/09/2024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1DF987B-20A4-4899-886D-F1E5CD9A48A7}" type="slidenum">
              <a:rPr lang="fr-FR" smtClean="0"/>
              <a:t>‹N°›</a:t>
            </a:fld>
            <a:endParaRPr lang="fr-FR"/>
          </a:p>
        </p:txBody>
      </p:sp>
    </p:spTree>
    <p:extLst>
      <p:ext uri="{BB962C8B-B14F-4D97-AF65-F5344CB8AC3E}">
        <p14:creationId xmlns:p14="http://schemas.microsoft.com/office/powerpoint/2010/main" val="3173246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F251FD91-6F2B-4D80-97EC-9FB8B20A8D9B}" type="datetimeFigureOut">
              <a:rPr lang="fr-FR" smtClean="0"/>
              <a:t>21/09/2024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1DF987B-20A4-4899-886D-F1E5CD9A48A7}" type="slidenum">
              <a:rPr lang="fr-FR" smtClean="0"/>
              <a:t>‹N°›</a:t>
            </a:fld>
            <a:endParaRPr lang="fr-FR"/>
          </a:p>
        </p:txBody>
      </p:sp>
    </p:spTree>
    <p:extLst>
      <p:ext uri="{BB962C8B-B14F-4D97-AF65-F5344CB8AC3E}">
        <p14:creationId xmlns:p14="http://schemas.microsoft.com/office/powerpoint/2010/main" val="698924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F251FD91-6F2B-4D80-97EC-9FB8B20A8D9B}" type="datetimeFigureOut">
              <a:rPr lang="fr-FR" smtClean="0"/>
              <a:t>21/09/2024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1DF987B-20A4-4899-886D-F1E5CD9A48A7}" type="slidenum">
              <a:rPr lang="fr-FR" smtClean="0"/>
              <a:t>‹N°›</a:t>
            </a:fld>
            <a:endParaRPr lang="fr-FR"/>
          </a:p>
        </p:txBody>
      </p:sp>
    </p:spTree>
    <p:extLst>
      <p:ext uri="{BB962C8B-B14F-4D97-AF65-F5344CB8AC3E}">
        <p14:creationId xmlns:p14="http://schemas.microsoft.com/office/powerpoint/2010/main" val="2667099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F251FD91-6F2B-4D80-97EC-9FB8B20A8D9B}" type="datetimeFigureOut">
              <a:rPr lang="fr-FR" smtClean="0"/>
              <a:t>21/09/2024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1DF987B-20A4-4899-886D-F1E5CD9A48A7}" type="slidenum">
              <a:rPr lang="fr-FR" smtClean="0"/>
              <a:t>‹N°›</a:t>
            </a:fld>
            <a:endParaRPr lang="fr-FR"/>
          </a:p>
        </p:txBody>
      </p:sp>
    </p:spTree>
    <p:extLst>
      <p:ext uri="{BB962C8B-B14F-4D97-AF65-F5344CB8AC3E}">
        <p14:creationId xmlns:p14="http://schemas.microsoft.com/office/powerpoint/2010/main" val="3285287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251FD91-6F2B-4D80-97EC-9FB8B20A8D9B}" type="datetimeFigureOut">
              <a:rPr lang="fr-FR" smtClean="0"/>
              <a:t>21/09/2024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1DF987B-20A4-4899-886D-F1E5CD9A48A7}" type="slidenum">
              <a:rPr lang="fr-FR" smtClean="0"/>
              <a:t>‹N°›</a:t>
            </a:fld>
            <a:endParaRPr lang="fr-FR"/>
          </a:p>
        </p:txBody>
      </p:sp>
    </p:spTree>
    <p:extLst>
      <p:ext uri="{BB962C8B-B14F-4D97-AF65-F5344CB8AC3E}">
        <p14:creationId xmlns:p14="http://schemas.microsoft.com/office/powerpoint/2010/main" val="3886164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F251FD91-6F2B-4D80-97EC-9FB8B20A8D9B}" type="datetimeFigureOut">
              <a:rPr lang="fr-FR" smtClean="0"/>
              <a:t>21/09/2024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1DF987B-20A4-4899-886D-F1E5CD9A48A7}" type="slidenum">
              <a:rPr lang="fr-FR" smtClean="0"/>
              <a:t>‹N°›</a:t>
            </a:fld>
            <a:endParaRPr lang="fr-FR"/>
          </a:p>
        </p:txBody>
      </p:sp>
    </p:spTree>
    <p:extLst>
      <p:ext uri="{BB962C8B-B14F-4D97-AF65-F5344CB8AC3E}">
        <p14:creationId xmlns:p14="http://schemas.microsoft.com/office/powerpoint/2010/main" val="499856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F251FD91-6F2B-4D80-97EC-9FB8B20A8D9B}" type="datetimeFigureOut">
              <a:rPr lang="fr-FR" smtClean="0"/>
              <a:t>21/09/2024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1DF987B-20A4-4899-886D-F1E5CD9A48A7}" type="slidenum">
              <a:rPr lang="fr-FR" smtClean="0"/>
              <a:t>‹N°›</a:t>
            </a:fld>
            <a:endParaRPr lang="fr-FR"/>
          </a:p>
        </p:txBody>
      </p:sp>
    </p:spTree>
    <p:extLst>
      <p:ext uri="{BB962C8B-B14F-4D97-AF65-F5344CB8AC3E}">
        <p14:creationId xmlns:p14="http://schemas.microsoft.com/office/powerpoint/2010/main" val="1275866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251FD91-6F2B-4D80-97EC-9FB8B20A8D9B}" type="datetimeFigureOut">
              <a:rPr lang="fr-FR" smtClean="0"/>
              <a:t>21/09/2024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1DF987B-20A4-4899-886D-F1E5CD9A48A7}" type="slidenum">
              <a:rPr lang="fr-FR" smtClean="0"/>
              <a:t>‹N°›</a:t>
            </a:fld>
            <a:endParaRPr lang="fr-FR"/>
          </a:p>
        </p:txBody>
      </p:sp>
    </p:spTree>
    <p:extLst>
      <p:ext uri="{BB962C8B-B14F-4D97-AF65-F5344CB8AC3E}">
        <p14:creationId xmlns:p14="http://schemas.microsoft.com/office/powerpoint/2010/main" val="2979216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251FD91-6F2B-4D80-97EC-9FB8B20A8D9B}" type="datetimeFigureOut">
              <a:rPr lang="fr-FR" smtClean="0"/>
              <a:t>21/09/2024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1DF987B-20A4-4899-886D-F1E5CD9A48A7}" type="slidenum">
              <a:rPr lang="fr-FR" smtClean="0"/>
              <a:t>‹N°›</a:t>
            </a:fld>
            <a:endParaRPr lang="fr-FR"/>
          </a:p>
        </p:txBody>
      </p:sp>
    </p:spTree>
    <p:extLst>
      <p:ext uri="{BB962C8B-B14F-4D97-AF65-F5344CB8AC3E}">
        <p14:creationId xmlns:p14="http://schemas.microsoft.com/office/powerpoint/2010/main" val="3645412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51FD91-6F2B-4D80-97EC-9FB8B20A8D9B}" type="datetimeFigureOut">
              <a:rPr lang="fr-FR" smtClean="0"/>
              <a:t>21/09/2024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DF987B-20A4-4899-886D-F1E5CD9A48A7}" type="slidenum">
              <a:rPr lang="fr-FR" smtClean="0"/>
              <a:t>‹N°›</a:t>
            </a:fld>
            <a:endParaRPr lang="fr-FR"/>
          </a:p>
        </p:txBody>
      </p:sp>
    </p:spTree>
    <p:extLst>
      <p:ext uri="{BB962C8B-B14F-4D97-AF65-F5344CB8AC3E}">
        <p14:creationId xmlns:p14="http://schemas.microsoft.com/office/powerpoint/2010/main" val="1672517652"/>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 id="21474839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jfif"/></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jp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191242" y="-2076183"/>
            <a:ext cx="9316041" cy="3329581"/>
          </a:xfrm>
        </p:spPr>
        <p:txBody>
          <a:bodyPr>
            <a:normAutofit/>
          </a:bodyPr>
          <a:lstStyle/>
          <a:p>
            <a:r>
              <a:rPr lang="fr-FR" sz="3600" b="1" dirty="0" smtClean="0">
                <a:solidFill>
                  <a:schemeClr val="tx1">
                    <a:lumMod val="85000"/>
                  </a:schemeClr>
                </a:solidFill>
                <a:latin typeface="Algerian" panose="04020705040A02060702" pitchFamily="82" charset="0"/>
                <a:cs typeface="Calibri" panose="020F0502020204030204" pitchFamily="34" charset="0"/>
              </a:rPr>
              <a:t>Projet d’administrateur d’infrastructure sécurisé:  </a:t>
            </a:r>
            <a:endParaRPr lang="fr-FR" sz="3600" b="1" dirty="0">
              <a:solidFill>
                <a:schemeClr val="tx1">
                  <a:lumMod val="85000"/>
                </a:schemeClr>
              </a:solidFill>
              <a:latin typeface="Algerian" panose="04020705040A02060702" pitchFamily="82" charset="0"/>
              <a:cs typeface="Calibri" panose="020F0502020204030204" pitchFamily="34" charset="0"/>
            </a:endParaRPr>
          </a:p>
        </p:txBody>
      </p:sp>
      <p:sp>
        <p:nvSpPr>
          <p:cNvPr id="3" name="Sous-titre 2"/>
          <p:cNvSpPr>
            <a:spLocks noGrp="1"/>
          </p:cNvSpPr>
          <p:nvPr>
            <p:ph type="subTitle" idx="1"/>
          </p:nvPr>
        </p:nvSpPr>
        <p:spPr>
          <a:xfrm>
            <a:off x="0" y="5925954"/>
            <a:ext cx="8825658" cy="2771997"/>
          </a:xfrm>
        </p:spPr>
        <p:txBody>
          <a:bodyPr>
            <a:normAutofit/>
          </a:bodyPr>
          <a:lstStyle/>
          <a:p>
            <a:pPr algn="l"/>
            <a:r>
              <a:rPr lang="fr-FR" sz="1600" dirty="0" smtClean="0">
                <a:solidFill>
                  <a:schemeClr val="tx1">
                    <a:lumMod val="85000"/>
                  </a:schemeClr>
                </a:solidFill>
                <a:latin typeface="Times New Roman" panose="02020603050405020304" pitchFamily="18" charset="0"/>
                <a:cs typeface="Times New Roman" panose="02020603050405020304" pitchFamily="18" charset="0"/>
              </a:rPr>
              <a:t>Réalisé par </a:t>
            </a:r>
            <a:r>
              <a:rPr lang="fr-FR" sz="1600" b="1" dirty="0" smtClean="0">
                <a:solidFill>
                  <a:schemeClr val="tx1">
                    <a:lumMod val="85000"/>
                  </a:schemeClr>
                </a:solidFill>
                <a:latin typeface="Times New Roman" panose="02020603050405020304" pitchFamily="18" charset="0"/>
                <a:cs typeface="Times New Roman" panose="02020603050405020304" pitchFamily="18" charset="0"/>
              </a:rPr>
              <a:t>OSSIBI ARMSTEL </a:t>
            </a:r>
          </a:p>
          <a:p>
            <a:pPr algn="l"/>
            <a:r>
              <a:rPr lang="fr-FR" sz="1600" b="1" dirty="0" smtClean="0">
                <a:solidFill>
                  <a:schemeClr val="tx1">
                    <a:lumMod val="85000"/>
                  </a:schemeClr>
                </a:solidFill>
                <a:latin typeface="Times New Roman" panose="02020603050405020304" pitchFamily="18" charset="0"/>
                <a:cs typeface="Times New Roman" panose="02020603050405020304" pitchFamily="18" charset="0"/>
              </a:rPr>
              <a:t>DON-CELESTE DARIHUS</a:t>
            </a:r>
            <a:r>
              <a:rPr lang="fr-FR" sz="1600" dirty="0" smtClean="0">
                <a:solidFill>
                  <a:schemeClr val="tx1">
                    <a:lumMod val="85000"/>
                  </a:schemeClr>
                </a:solidFill>
                <a:latin typeface="Times New Roman" panose="02020603050405020304" pitchFamily="18" charset="0"/>
                <a:cs typeface="Times New Roman" panose="02020603050405020304" pitchFamily="18" charset="0"/>
              </a:rPr>
              <a:t>  </a:t>
            </a:r>
          </a:p>
          <a:p>
            <a:pPr algn="ctr"/>
            <a:endParaRPr lang="fr-FR" sz="2400" dirty="0">
              <a:solidFill>
                <a:schemeClr val="tx1">
                  <a:lumMod val="85000"/>
                </a:schemeClr>
              </a:solidFill>
              <a:latin typeface="Algerian" panose="04020705040A02060702" pitchFamily="82" charset="0"/>
              <a:cs typeface="Arial" panose="020B0604020202020204" pitchFamily="34" charset="0"/>
            </a:endParaRP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72078" y="1"/>
            <a:ext cx="1419922" cy="892830"/>
          </a:xfrm>
          <a:prstGeom prst="rect">
            <a:avLst/>
          </a:prstGeom>
        </p:spPr>
      </p:pic>
      <p:pic>
        <p:nvPicPr>
          <p:cNvPr id="10"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292" y="1312185"/>
            <a:ext cx="1415366" cy="1415366"/>
          </a:xfrm>
          <a:prstGeom prst="rect">
            <a:avLst/>
          </a:prstGeom>
        </p:spPr>
      </p:pic>
      <p:sp>
        <p:nvSpPr>
          <p:cNvPr id="11" name="ZoneTexte 10"/>
          <p:cNvSpPr txBox="1"/>
          <p:nvPr/>
        </p:nvSpPr>
        <p:spPr>
          <a:xfrm>
            <a:off x="2580739" y="3021124"/>
            <a:ext cx="6837128" cy="1323439"/>
          </a:xfrm>
          <a:prstGeom prst="rect">
            <a:avLst/>
          </a:prstGeom>
          <a:noFill/>
        </p:spPr>
        <p:txBody>
          <a:bodyPr wrap="none" rtlCol="0">
            <a:spAutoFit/>
          </a:bodyPr>
          <a:lstStyle/>
          <a:p>
            <a:pPr algn="ctr"/>
            <a:r>
              <a:rPr lang="fr-FR" sz="2000" dirty="0" smtClean="0">
                <a:latin typeface="Algerian" panose="04020705040A02060702" pitchFamily="82" charset="0"/>
              </a:rPr>
              <a:t>Renforcement de la sécurité de l’infrastructure</a:t>
            </a:r>
          </a:p>
          <a:p>
            <a:pPr algn="ctr"/>
            <a:endParaRPr lang="fr-FR" sz="2000" dirty="0" smtClean="0">
              <a:latin typeface="Algerian" panose="04020705040A02060702" pitchFamily="82" charset="0"/>
            </a:endParaRPr>
          </a:p>
          <a:p>
            <a:pPr algn="ctr"/>
            <a:endParaRPr lang="fr-FR" sz="2000" dirty="0" smtClean="0">
              <a:latin typeface="Algerian" panose="04020705040A02060702" pitchFamily="82" charset="0"/>
            </a:endParaRPr>
          </a:p>
          <a:p>
            <a:pPr algn="ctr"/>
            <a:endParaRPr lang="fr-FR" sz="2000" dirty="0" smtClean="0">
              <a:latin typeface="Algerian" panose="04020705040A02060702" pitchFamily="82" charset="0"/>
            </a:endParaRPr>
          </a:p>
        </p:txBody>
      </p:sp>
      <p:pic>
        <p:nvPicPr>
          <p:cNvPr id="12" name="Imag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7889" y="3392499"/>
            <a:ext cx="2020465" cy="554179"/>
          </a:xfrm>
          <a:prstGeom prst="rect">
            <a:avLst/>
          </a:prstGeom>
        </p:spPr>
      </p:pic>
      <p:sp>
        <p:nvSpPr>
          <p:cNvPr id="13" name="ZoneTexte 12"/>
          <p:cNvSpPr txBox="1"/>
          <p:nvPr/>
        </p:nvSpPr>
        <p:spPr>
          <a:xfrm>
            <a:off x="5644366" y="3447666"/>
            <a:ext cx="596414" cy="369332"/>
          </a:xfrm>
          <a:prstGeom prst="rect">
            <a:avLst/>
          </a:prstGeom>
          <a:noFill/>
        </p:spPr>
        <p:txBody>
          <a:bodyPr wrap="square" rtlCol="0">
            <a:spAutoFit/>
          </a:bodyPr>
          <a:lstStyle/>
          <a:p>
            <a:r>
              <a:rPr lang="fr-FR" dirty="0" smtClean="0"/>
              <a:t>  +</a:t>
            </a:r>
            <a:endParaRPr lang="fr-FR" dirty="0"/>
          </a:p>
        </p:txBody>
      </p:sp>
      <p:pic>
        <p:nvPicPr>
          <p:cNvPr id="14" name="Imag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91094" y="3409654"/>
            <a:ext cx="1720034" cy="537024"/>
          </a:xfrm>
          <a:prstGeom prst="rect">
            <a:avLst/>
          </a:prstGeom>
        </p:spPr>
      </p:pic>
      <p:sp>
        <p:nvSpPr>
          <p:cNvPr id="17" name="ZoneTexte 16"/>
          <p:cNvSpPr txBox="1"/>
          <p:nvPr/>
        </p:nvSpPr>
        <p:spPr>
          <a:xfrm>
            <a:off x="9181912" y="6338292"/>
            <a:ext cx="2904961" cy="307777"/>
          </a:xfrm>
          <a:prstGeom prst="rect">
            <a:avLst/>
          </a:prstGeom>
          <a:noFill/>
        </p:spPr>
        <p:txBody>
          <a:bodyPr wrap="none" rtlCol="0">
            <a:spAutoFit/>
          </a:bodyPr>
          <a:lstStyle/>
          <a:p>
            <a:pPr algn="r"/>
            <a:r>
              <a:rPr lang="fr-FR" sz="1400" dirty="0" smtClean="0">
                <a:latin typeface="Times New Roman" panose="02020603050405020304" pitchFamily="18" charset="0"/>
                <a:cs typeface="Times New Roman" panose="02020603050405020304" pitchFamily="18" charset="0"/>
              </a:rPr>
              <a:t>Session de Septembre-&gt;Octobre 2024</a:t>
            </a:r>
            <a:endParaRPr lang="fr-FR" sz="1400" dirty="0">
              <a:latin typeface="Times New Roman" panose="02020603050405020304" pitchFamily="18" charset="0"/>
              <a:cs typeface="Times New Roman" panose="02020603050405020304" pitchFamily="18" charset="0"/>
            </a:endParaRPr>
          </a:p>
        </p:txBody>
      </p:sp>
      <p:pic>
        <p:nvPicPr>
          <p:cNvPr id="18" name="Image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55846" y="5393256"/>
            <a:ext cx="1286913" cy="1065396"/>
          </a:xfrm>
          <a:prstGeom prst="rect">
            <a:avLst/>
          </a:prstGeom>
        </p:spPr>
      </p:pic>
      <p:sp>
        <p:nvSpPr>
          <p:cNvPr id="19" name="ZoneTexte 18"/>
          <p:cNvSpPr txBox="1"/>
          <p:nvPr/>
        </p:nvSpPr>
        <p:spPr>
          <a:xfrm>
            <a:off x="5301037" y="6646069"/>
            <a:ext cx="1396536" cy="246221"/>
          </a:xfrm>
          <a:prstGeom prst="rect">
            <a:avLst/>
          </a:prstGeom>
          <a:noFill/>
        </p:spPr>
        <p:txBody>
          <a:bodyPr wrap="none" rtlCol="0">
            <a:spAutoFit/>
          </a:bodyPr>
          <a:lstStyle/>
          <a:p>
            <a:pPr algn="ctr"/>
            <a:r>
              <a:rPr lang="fr-FR" sz="1000" dirty="0" err="1" smtClean="0">
                <a:latin typeface="Times New Roman" panose="02020603050405020304" pitchFamily="18" charset="0"/>
                <a:cs typeface="Times New Roman" panose="02020603050405020304" pitchFamily="18" charset="0"/>
              </a:rPr>
              <a:t>Ossibi</a:t>
            </a:r>
            <a:r>
              <a:rPr lang="fr-FR" sz="1000" dirty="0" smtClean="0">
                <a:latin typeface="Times New Roman" panose="02020603050405020304" pitchFamily="18" charset="0"/>
                <a:cs typeface="Times New Roman" panose="02020603050405020304" pitchFamily="18" charset="0"/>
              </a:rPr>
              <a:t> </a:t>
            </a:r>
            <a:r>
              <a:rPr lang="fr-FR" sz="1000" dirty="0" err="1" smtClean="0">
                <a:latin typeface="Times New Roman" panose="02020603050405020304" pitchFamily="18" charset="0"/>
                <a:cs typeface="Times New Roman" panose="02020603050405020304" pitchFamily="18" charset="0"/>
              </a:rPr>
              <a:t>Armstel</a:t>
            </a:r>
            <a:r>
              <a:rPr lang="fr-FR" sz="1000" dirty="0" smtClean="0">
                <a:latin typeface="Times New Roman" panose="02020603050405020304" pitchFamily="18" charset="0"/>
                <a:cs typeface="Times New Roman" panose="02020603050405020304" pitchFamily="18" charset="0"/>
              </a:rPr>
              <a:t> </a:t>
            </a:r>
            <a:r>
              <a:rPr lang="fr-FR" sz="1000" dirty="0" err="1" smtClean="0">
                <a:latin typeface="Times New Roman" panose="02020603050405020304" pitchFamily="18" charset="0"/>
                <a:cs typeface="Times New Roman" panose="02020603050405020304" pitchFamily="18" charset="0"/>
              </a:rPr>
              <a:t>Darihus</a:t>
            </a:r>
            <a:endParaRPr lang="fr-FR" sz="1000" dirty="0">
              <a:latin typeface="Times New Roman" panose="02020603050405020304" pitchFamily="18" charset="0"/>
              <a:cs typeface="Times New Roman" panose="02020603050405020304" pitchFamily="18" charset="0"/>
            </a:endParaRPr>
          </a:p>
        </p:txBody>
      </p:sp>
      <p:sp>
        <p:nvSpPr>
          <p:cNvPr id="20" name="ZoneTexte 19"/>
          <p:cNvSpPr txBox="1"/>
          <p:nvPr/>
        </p:nvSpPr>
        <p:spPr>
          <a:xfrm>
            <a:off x="4767353" y="4999506"/>
            <a:ext cx="2573525" cy="461665"/>
          </a:xfrm>
          <a:prstGeom prst="rect">
            <a:avLst/>
          </a:prstGeom>
          <a:noFill/>
        </p:spPr>
        <p:txBody>
          <a:bodyPr wrap="none" rtlCol="0">
            <a:spAutoFit/>
          </a:bodyPr>
          <a:lstStyle/>
          <a:p>
            <a:r>
              <a:rPr lang="fr-FR" sz="2400" dirty="0" smtClean="0">
                <a:latin typeface="Times New Roman" panose="02020603050405020304" pitchFamily="18" charset="0"/>
                <a:cs typeface="Times New Roman" panose="02020603050405020304" pitchFamily="18" charset="0"/>
              </a:rPr>
              <a:t>Remakefrance.com</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02331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341120" y="-1803717"/>
            <a:ext cx="9144000" cy="2387600"/>
          </a:xfrm>
        </p:spPr>
        <p:txBody>
          <a:bodyPr>
            <a:normAutofit/>
          </a:bodyPr>
          <a:lstStyle/>
          <a:p>
            <a:r>
              <a:rPr lang="fr-FR" sz="3600" b="1" u="sng" dirty="0" smtClean="0">
                <a:latin typeface="Algerian" panose="04020705040A02060702" pitchFamily="82" charset="0"/>
                <a:cs typeface="Times New Roman" panose="02020603050405020304" pitchFamily="18" charset="0"/>
              </a:rPr>
              <a:t>Sommaire: </a:t>
            </a:r>
            <a:endParaRPr lang="fr-FR" sz="3600" b="1" u="sng" dirty="0">
              <a:latin typeface="Algerian" panose="04020705040A02060702" pitchFamily="82" charset="0"/>
              <a:cs typeface="Times New Roman" panose="02020603050405020304" pitchFamily="18" charset="0"/>
            </a:endParaRPr>
          </a:p>
        </p:txBody>
      </p:sp>
      <p:sp>
        <p:nvSpPr>
          <p:cNvPr id="3" name="Sous-titre 2"/>
          <p:cNvSpPr>
            <a:spLocks noGrp="1"/>
          </p:cNvSpPr>
          <p:nvPr>
            <p:ph type="subTitle" idx="1"/>
          </p:nvPr>
        </p:nvSpPr>
        <p:spPr>
          <a:xfrm>
            <a:off x="749300" y="947854"/>
            <a:ext cx="9964420" cy="3967046"/>
          </a:xfrm>
        </p:spPr>
        <p:txBody>
          <a:bodyPr>
            <a:normAutofit fontScale="85000" lnSpcReduction="20000"/>
          </a:bodyPr>
          <a:lstStyle/>
          <a:p>
            <a:pPr algn="l"/>
            <a:r>
              <a:rPr lang="fr-FR" sz="2200" b="1" dirty="0" smtClean="0">
                <a:latin typeface="Times New Roman" panose="02020603050405020304" pitchFamily="18" charset="0"/>
                <a:cs typeface="Times New Roman" panose="02020603050405020304" pitchFamily="18" charset="0"/>
              </a:rPr>
              <a:t>1-Introduction:</a:t>
            </a:r>
          </a:p>
          <a:p>
            <a:pPr marL="285750" lvl="0" indent="-285750" algn="just">
              <a:lnSpc>
                <a:spcPct val="115000"/>
              </a:lnSpc>
              <a:spcBef>
                <a:spcPts val="0"/>
              </a:spcBef>
              <a:buFont typeface="Wingdings" panose="05000000000000000000" pitchFamily="2" charset="2"/>
              <a:buChar char="Ø"/>
            </a:pPr>
            <a:r>
              <a:rPr lang="fr-FR" sz="19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Présentation personnelle </a:t>
            </a:r>
          </a:p>
          <a:p>
            <a:pPr marL="285750" lvl="0" indent="-285750" algn="just">
              <a:lnSpc>
                <a:spcPct val="115000"/>
              </a:lnSpc>
              <a:spcBef>
                <a:spcPts val="0"/>
              </a:spcBef>
              <a:buFont typeface="Wingdings" panose="05000000000000000000" pitchFamily="2" charset="2"/>
              <a:buChar char="Ø"/>
            </a:pPr>
            <a:r>
              <a:rPr lang="fr-FR" sz="19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Présentation du projet </a:t>
            </a:r>
          </a:p>
          <a:p>
            <a:pPr marL="285750" lvl="0" indent="-285750" algn="just">
              <a:lnSpc>
                <a:spcPct val="115000"/>
              </a:lnSpc>
              <a:spcBef>
                <a:spcPts val="0"/>
              </a:spcBef>
              <a:buFont typeface="Wingdings" panose="05000000000000000000" pitchFamily="2" charset="2"/>
              <a:buChar char="Ø"/>
            </a:pPr>
            <a:r>
              <a:rPr lang="fr-FR" sz="19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Infrastructure Existante </a:t>
            </a:r>
          </a:p>
          <a:p>
            <a:pPr lvl="0" algn="just">
              <a:lnSpc>
                <a:spcPct val="115000"/>
              </a:lnSpc>
              <a:spcBef>
                <a:spcPts val="0"/>
              </a:spcBef>
            </a:pPr>
            <a:r>
              <a:rPr lang="fr-FR" sz="2200" b="1"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2-Objet du renforcement de la sécurité de l’infrastructure</a:t>
            </a:r>
          </a:p>
          <a:p>
            <a:pPr lvl="0" algn="just">
              <a:lnSpc>
                <a:spcPct val="115000"/>
              </a:lnSpc>
              <a:spcBef>
                <a:spcPts val="0"/>
              </a:spcBef>
            </a:pPr>
            <a:r>
              <a:rPr lang="fr-FR" sz="2200" b="1"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3</a:t>
            </a:r>
            <a:r>
              <a:rPr lang="fr-FR" sz="2200" b="1"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-Présentation de CrowdSec:</a:t>
            </a:r>
          </a:p>
          <a:p>
            <a:pPr marL="285750" lvl="0" indent="-285750" algn="just">
              <a:lnSpc>
                <a:spcPct val="115000"/>
              </a:lnSpc>
              <a:spcBef>
                <a:spcPts val="0"/>
              </a:spcBef>
              <a:buFont typeface="Wingdings" panose="05000000000000000000" pitchFamily="2" charset="2"/>
              <a:buChar char="Ø"/>
            </a:pPr>
            <a:r>
              <a:rPr lang="fr-FR" sz="19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Qu’est ce que CrowdSec?</a:t>
            </a:r>
            <a:endParaRPr lang="fr-FR" sz="19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a:p>
            <a:pPr marL="285750" lvl="0" indent="-285750" algn="just">
              <a:lnSpc>
                <a:spcPct val="115000"/>
              </a:lnSpc>
              <a:spcBef>
                <a:spcPts val="0"/>
              </a:spcBef>
              <a:buFont typeface="Wingdings" panose="05000000000000000000" pitchFamily="2" charset="2"/>
              <a:buChar char="Ø"/>
            </a:pPr>
            <a:r>
              <a:rPr lang="fr-FR" sz="19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Intégration de CrowdSec sur notre pare-feu </a:t>
            </a:r>
            <a:r>
              <a:rPr lang="fr-FR" sz="1900" kern="100" dirty="0" err="1"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Pfsense</a:t>
            </a:r>
            <a:endParaRPr lang="fr-FR" sz="19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a:p>
            <a:pPr lvl="0" algn="just">
              <a:lnSpc>
                <a:spcPct val="115000"/>
              </a:lnSpc>
              <a:spcBef>
                <a:spcPts val="0"/>
              </a:spcBef>
            </a:pPr>
            <a:r>
              <a:rPr lang="fr-FR" sz="2000" b="1"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4-Résultat et bénéfices:</a:t>
            </a:r>
          </a:p>
          <a:p>
            <a:pPr marL="285750" lvl="0" indent="-285750" algn="just">
              <a:lnSpc>
                <a:spcPct val="115000"/>
              </a:lnSpc>
              <a:spcBef>
                <a:spcPts val="0"/>
              </a:spcBef>
              <a:buFont typeface="Wingdings" panose="05000000000000000000" pitchFamily="2" charset="2"/>
              <a:buChar char="Ø"/>
            </a:pPr>
            <a:r>
              <a:rPr lang="fr-FR" sz="19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Résultats</a:t>
            </a:r>
          </a:p>
          <a:p>
            <a:pPr marL="285750" lvl="0" indent="-285750" algn="just">
              <a:lnSpc>
                <a:spcPct val="115000"/>
              </a:lnSpc>
              <a:spcBef>
                <a:spcPts val="0"/>
              </a:spcBef>
              <a:buFont typeface="Wingdings" panose="05000000000000000000" pitchFamily="2" charset="2"/>
              <a:buChar char="Ø"/>
            </a:pPr>
            <a:r>
              <a:rPr lang="fr-FR" sz="19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Sécurité renforcée </a:t>
            </a:r>
          </a:p>
          <a:p>
            <a:pPr marL="285750" lvl="0" indent="-285750" algn="just">
              <a:lnSpc>
                <a:spcPct val="115000"/>
              </a:lnSpc>
              <a:spcBef>
                <a:spcPts val="0"/>
              </a:spcBef>
              <a:buFont typeface="Wingdings" panose="05000000000000000000" pitchFamily="2" charset="2"/>
              <a:buChar char="Ø"/>
            </a:pPr>
            <a:r>
              <a:rPr lang="fr-FR" sz="19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 </a:t>
            </a:r>
            <a:r>
              <a:rPr lang="fr-FR" sz="19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Améliorations </a:t>
            </a:r>
          </a:p>
          <a:p>
            <a:pPr lvl="0" algn="just">
              <a:lnSpc>
                <a:spcPct val="115000"/>
              </a:lnSpc>
              <a:spcBef>
                <a:spcPts val="0"/>
              </a:spcBef>
            </a:pPr>
            <a:r>
              <a:rPr lang="fr-FR" sz="2000" b="1"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5-Conclusion:</a:t>
            </a:r>
            <a:endParaRPr lang="fr-FR" sz="2000" b="1"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a:p>
            <a:pPr marL="285750" lvl="0" indent="-285750" algn="just">
              <a:lnSpc>
                <a:spcPct val="115000"/>
              </a:lnSpc>
              <a:spcBef>
                <a:spcPts val="0"/>
              </a:spcBef>
              <a:buFont typeface="Wingdings" panose="05000000000000000000" pitchFamily="2" charset="2"/>
              <a:buChar char="Ø"/>
            </a:pPr>
            <a:r>
              <a:rPr lang="fr-FR" sz="19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Remerciements et crédits</a:t>
            </a:r>
          </a:p>
          <a:p>
            <a:pPr marL="285750" lvl="0" indent="-285750" algn="just">
              <a:lnSpc>
                <a:spcPct val="115000"/>
              </a:lnSpc>
              <a:spcBef>
                <a:spcPts val="0"/>
              </a:spcBef>
              <a:buFont typeface="Wingdings" panose="05000000000000000000" pitchFamily="2" charset="2"/>
              <a:buChar char="Ø"/>
            </a:pPr>
            <a:r>
              <a:rPr lang="fr-FR" sz="19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Mot de la fin </a:t>
            </a:r>
            <a:endParaRPr lang="fr-FR" sz="19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a:p>
            <a:pPr lvl="0" algn="just">
              <a:lnSpc>
                <a:spcPct val="115000"/>
              </a:lnSpc>
              <a:spcBef>
                <a:spcPts val="0"/>
              </a:spcBef>
            </a:pPr>
            <a:endParaRPr lang="fr-FR" sz="14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a:p>
            <a:pPr lvl="0" algn="just">
              <a:lnSpc>
                <a:spcPct val="115000"/>
              </a:lnSpc>
              <a:spcBef>
                <a:spcPts val="0"/>
              </a:spcBef>
            </a:pPr>
            <a:endParaRPr lang="fr-FR" sz="14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a:p>
            <a:pPr lvl="0" algn="just">
              <a:lnSpc>
                <a:spcPct val="115000"/>
              </a:lnSpc>
              <a:spcBef>
                <a:spcPts val="0"/>
              </a:spcBef>
            </a:pPr>
            <a:endParaRPr lang="fr-FR" sz="14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a:p>
            <a:pPr lvl="0" algn="just">
              <a:lnSpc>
                <a:spcPct val="115000"/>
              </a:lnSpc>
              <a:spcBef>
                <a:spcPts val="0"/>
              </a:spcBef>
            </a:pPr>
            <a:endParaRPr lang="fr-FR" sz="14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a:p>
            <a:pPr lvl="0" algn="just">
              <a:lnSpc>
                <a:spcPct val="115000"/>
              </a:lnSpc>
              <a:spcBef>
                <a:spcPts val="0"/>
              </a:spcBef>
            </a:pPr>
            <a:endParaRPr lang="fr-FR" sz="14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a:p>
            <a:pPr algn="l"/>
            <a:endParaRPr lang="fr-FR" sz="1600" dirty="0" smtClean="0"/>
          </a:p>
          <a:p>
            <a:pPr algn="l"/>
            <a:endParaRPr lang="fr-FR" sz="1600" dirty="0"/>
          </a:p>
        </p:txBody>
      </p:sp>
      <p:sp>
        <p:nvSpPr>
          <p:cNvPr id="5" name="ZoneTexte 4"/>
          <p:cNvSpPr txBox="1"/>
          <p:nvPr/>
        </p:nvSpPr>
        <p:spPr>
          <a:xfrm>
            <a:off x="5185196" y="6604084"/>
            <a:ext cx="1455848" cy="253916"/>
          </a:xfrm>
          <a:prstGeom prst="rect">
            <a:avLst/>
          </a:prstGeom>
          <a:noFill/>
        </p:spPr>
        <p:txBody>
          <a:bodyPr wrap="none" rtlCol="0">
            <a:spAutoFit/>
          </a:bodyPr>
          <a:lstStyle/>
          <a:p>
            <a:r>
              <a:rPr lang="fr-FR" sz="1050" dirty="0" err="1" smtClean="0">
                <a:latin typeface="Times New Roman" panose="02020603050405020304" pitchFamily="18" charset="0"/>
                <a:cs typeface="Times New Roman" panose="02020603050405020304" pitchFamily="18" charset="0"/>
              </a:rPr>
              <a:t>Ossibi</a:t>
            </a:r>
            <a:r>
              <a:rPr lang="fr-FR" sz="1050" dirty="0" smtClean="0">
                <a:latin typeface="Times New Roman" panose="02020603050405020304" pitchFamily="18" charset="0"/>
                <a:cs typeface="Times New Roman" panose="02020603050405020304" pitchFamily="18" charset="0"/>
              </a:rPr>
              <a:t> </a:t>
            </a:r>
            <a:r>
              <a:rPr lang="fr-FR" sz="1050" dirty="0" err="1" smtClean="0">
                <a:latin typeface="Times New Roman" panose="02020603050405020304" pitchFamily="18" charset="0"/>
                <a:cs typeface="Times New Roman" panose="02020603050405020304" pitchFamily="18" charset="0"/>
              </a:rPr>
              <a:t>Armstel</a:t>
            </a:r>
            <a:r>
              <a:rPr lang="fr-FR" sz="1050" dirty="0" smtClean="0">
                <a:latin typeface="Times New Roman" panose="02020603050405020304" pitchFamily="18" charset="0"/>
                <a:cs typeface="Times New Roman" panose="02020603050405020304" pitchFamily="18" charset="0"/>
              </a:rPr>
              <a:t> </a:t>
            </a:r>
            <a:r>
              <a:rPr lang="fr-FR" sz="1050" dirty="0" err="1" smtClean="0">
                <a:latin typeface="Times New Roman" panose="02020603050405020304" pitchFamily="18" charset="0"/>
                <a:cs typeface="Times New Roman" panose="02020603050405020304" pitchFamily="18" charset="0"/>
              </a:rPr>
              <a:t>Darihus</a:t>
            </a:r>
            <a:endParaRPr lang="fr-FR" sz="1050" dirty="0">
              <a:latin typeface="Times New Roman" panose="02020603050405020304" pitchFamily="18" charset="0"/>
              <a:cs typeface="Times New Roman" panose="02020603050405020304" pitchFamily="18" charset="0"/>
            </a:endParaRPr>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1753" y="5289451"/>
            <a:ext cx="1400370" cy="1314633"/>
          </a:xfrm>
          <a:prstGeom prst="rect">
            <a:avLst/>
          </a:prstGeom>
        </p:spPr>
      </p:pic>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4492" y="218973"/>
            <a:ext cx="1350047" cy="848893"/>
          </a:xfrm>
          <a:prstGeom prst="rect">
            <a:avLst/>
          </a:prstGeom>
        </p:spPr>
      </p:pic>
    </p:spTree>
    <p:extLst>
      <p:ext uri="{BB962C8B-B14F-4D97-AF65-F5344CB8AC3E}">
        <p14:creationId xmlns:p14="http://schemas.microsoft.com/office/powerpoint/2010/main" val="6366987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304282" y="-708876"/>
            <a:ext cx="9144000" cy="2387600"/>
          </a:xfrm>
        </p:spPr>
        <p:txBody>
          <a:bodyPr>
            <a:normAutofit/>
          </a:bodyPr>
          <a:lstStyle/>
          <a:p>
            <a:pPr lvl="0" algn="just">
              <a:lnSpc>
                <a:spcPct val="115000"/>
              </a:lnSpc>
              <a:spcBef>
                <a:spcPts val="0"/>
              </a:spcBef>
            </a:pPr>
            <a:r>
              <a:rPr lang="fr-FR" sz="2400" u="sng" dirty="0" smtClean="0">
                <a:latin typeface="Algerian" panose="04020705040A02060702" pitchFamily="82" charset="0"/>
              </a:rPr>
              <a:t/>
            </a:r>
            <a:br>
              <a:rPr lang="fr-FR" sz="2400" u="sng" dirty="0" smtClean="0">
                <a:latin typeface="Algerian" panose="04020705040A02060702" pitchFamily="82" charset="0"/>
              </a:rPr>
            </a:br>
            <a:endParaRPr lang="fr-FR" sz="2400" u="sng" dirty="0">
              <a:latin typeface="Algerian" panose="04020705040A02060702" pitchFamily="82" charset="0"/>
            </a:endParaRPr>
          </a:p>
        </p:txBody>
      </p:sp>
      <p:sp>
        <p:nvSpPr>
          <p:cNvPr id="3" name="Sous-titre 2"/>
          <p:cNvSpPr>
            <a:spLocks noGrp="1"/>
          </p:cNvSpPr>
          <p:nvPr>
            <p:ph type="subTitle" idx="1"/>
          </p:nvPr>
        </p:nvSpPr>
        <p:spPr>
          <a:xfrm>
            <a:off x="1390186" y="6612867"/>
            <a:ext cx="9144000" cy="1655762"/>
          </a:xfrm>
        </p:spPr>
        <p:txBody>
          <a:bodyPr>
            <a:normAutofit/>
          </a:bodyPr>
          <a:lstStyle/>
          <a:p>
            <a:r>
              <a:rPr lang="fr-FR" sz="1050" dirty="0" err="1" smtClean="0">
                <a:latin typeface="Century Gothic" panose="020B0502020202020204" pitchFamily="34" charset="0"/>
              </a:rPr>
              <a:t>Ossibi</a:t>
            </a:r>
            <a:r>
              <a:rPr lang="fr-FR" sz="1050" dirty="0" smtClean="0">
                <a:latin typeface="Century Gothic" panose="020B0502020202020204" pitchFamily="34" charset="0"/>
              </a:rPr>
              <a:t> </a:t>
            </a:r>
            <a:r>
              <a:rPr lang="fr-FR" sz="1050" dirty="0" err="1" smtClean="0">
                <a:latin typeface="Century Gothic" panose="020B0502020202020204" pitchFamily="34" charset="0"/>
              </a:rPr>
              <a:t>Armstel</a:t>
            </a:r>
            <a:r>
              <a:rPr lang="fr-FR" sz="1050" dirty="0" smtClean="0">
                <a:latin typeface="Century Gothic" panose="020B0502020202020204" pitchFamily="34" charset="0"/>
              </a:rPr>
              <a:t> </a:t>
            </a:r>
            <a:r>
              <a:rPr lang="fr-FR" sz="1050" dirty="0" err="1" smtClean="0">
                <a:latin typeface="Century Gothic" panose="020B0502020202020204" pitchFamily="34" charset="0"/>
              </a:rPr>
              <a:t>Darihus</a:t>
            </a:r>
            <a:endParaRPr lang="fr-FR" sz="1050" dirty="0">
              <a:latin typeface="Century Gothic" panose="020B0502020202020204" pitchFamily="34" charset="0"/>
            </a:endParaRPr>
          </a:p>
        </p:txBody>
      </p:sp>
      <p:pic>
        <p:nvPicPr>
          <p:cNvPr id="5" name="Image 4">
            <a:extLst>
              <a:ext uri="{FF2B5EF4-FFF2-40B4-BE49-F238E27FC236}">
                <a16:creationId xmlns="" xmlns:a16="http://schemas.microsoft.com/office/drawing/2014/main" xmlns:lc="http://schemas.openxmlformats.org/drawingml/2006/lockedCanvas" id="{7AF870A3-1CD8-64FB-0DED-21B95F53756F}"/>
              </a:ext>
            </a:extLst>
          </p:cNvPr>
          <p:cNvPicPr>
            <a:picLocks noChangeAspect="1"/>
          </p:cNvPicPr>
          <p:nvPr/>
        </p:nvPicPr>
        <p:blipFill>
          <a:blip r:embed="rId2"/>
          <a:stretch>
            <a:fillRect/>
          </a:stretch>
        </p:blipFill>
        <p:spPr>
          <a:xfrm>
            <a:off x="32683" y="2570200"/>
            <a:ext cx="2715005" cy="1690924"/>
          </a:xfrm>
          <a:prstGeom prst="rect">
            <a:avLst/>
          </a:prstGeom>
        </p:spPr>
      </p:pic>
      <p:sp>
        <p:nvSpPr>
          <p:cNvPr id="4" name="ZoneTexte 3"/>
          <p:cNvSpPr txBox="1"/>
          <p:nvPr/>
        </p:nvSpPr>
        <p:spPr>
          <a:xfrm>
            <a:off x="514211" y="1820980"/>
            <a:ext cx="1293944" cy="369332"/>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spAutoFit/>
          </a:bodyPr>
          <a:lstStyle/>
          <a:p>
            <a:r>
              <a:rPr lang="fr-FR" dirty="0" smtClean="0">
                <a:latin typeface="Times New Roman" panose="02020603050405020304" pitchFamily="18" charset="0"/>
                <a:cs typeface="Times New Roman" panose="02020603050405020304" pitchFamily="18" charset="0"/>
              </a:rPr>
              <a:t>Qui suis-je?</a:t>
            </a:r>
            <a:endParaRPr lang="fr-FR" dirty="0">
              <a:latin typeface="Times New Roman" panose="02020603050405020304" pitchFamily="18" charset="0"/>
              <a:cs typeface="Times New Roman" panose="02020603050405020304" pitchFamily="18" charset="0"/>
            </a:endParaRPr>
          </a:p>
        </p:txBody>
      </p:sp>
      <p:sp>
        <p:nvSpPr>
          <p:cNvPr id="6" name="ZoneTexte 5"/>
          <p:cNvSpPr txBox="1"/>
          <p:nvPr/>
        </p:nvSpPr>
        <p:spPr>
          <a:xfrm>
            <a:off x="0" y="4417312"/>
            <a:ext cx="3616311" cy="1435778"/>
          </a:xfrm>
          <a:prstGeom prst="rect">
            <a:avLst/>
          </a:prstGeom>
          <a:noFill/>
        </p:spPr>
        <p:txBody>
          <a:bodyPr wrap="none" rtlCol="0">
            <a:spAutoFit/>
          </a:bodyPr>
          <a:lstStyle/>
          <a:p>
            <a:pPr marL="57150" lvl="0" indent="-285750" algn="just">
              <a:lnSpc>
                <a:spcPct val="115000"/>
              </a:lnSpc>
              <a:buFont typeface="Wingdings" panose="05000000000000000000" pitchFamily="2" charset="2"/>
              <a:buChar char="v"/>
            </a:pPr>
            <a:r>
              <a:rPr lang="fr-FR" sz="1600" dirty="0" smtClean="0"/>
              <a:t> </a:t>
            </a:r>
            <a:r>
              <a:rPr lang="fr-FR" sz="1600" dirty="0" err="1" smtClean="0">
                <a:latin typeface="Times New Roman" panose="02020603050405020304" pitchFamily="18" charset="0"/>
                <a:cs typeface="Times New Roman" panose="02020603050405020304" pitchFamily="18" charset="0"/>
              </a:rPr>
              <a:t>Ossibi</a:t>
            </a:r>
            <a:r>
              <a:rPr lang="fr-FR" sz="1600" dirty="0" smtClean="0">
                <a:latin typeface="Times New Roman" panose="02020603050405020304" pitchFamily="18" charset="0"/>
                <a:cs typeface="Times New Roman" panose="02020603050405020304" pitchFamily="18" charset="0"/>
              </a:rPr>
              <a:t> </a:t>
            </a:r>
            <a:r>
              <a:rPr lang="fr-FR" sz="1600" dirty="0" err="1" smtClean="0">
                <a:latin typeface="Times New Roman" panose="02020603050405020304" pitchFamily="18" charset="0"/>
                <a:cs typeface="Times New Roman" panose="02020603050405020304" pitchFamily="18" charset="0"/>
              </a:rPr>
              <a:t>Armstel</a:t>
            </a:r>
            <a:r>
              <a:rPr lang="fr-FR" sz="1600" dirty="0" smtClean="0">
                <a:latin typeface="Times New Roman" panose="02020603050405020304" pitchFamily="18" charset="0"/>
                <a:cs typeface="Times New Roman" panose="02020603050405020304" pitchFamily="18" charset="0"/>
              </a:rPr>
              <a:t> Don-céleste </a:t>
            </a:r>
            <a:r>
              <a:rPr lang="fr-FR" sz="1600" dirty="0" err="1" smtClean="0">
                <a:latin typeface="Times New Roman" panose="02020603050405020304" pitchFamily="18" charset="0"/>
                <a:cs typeface="Times New Roman" panose="02020603050405020304" pitchFamily="18" charset="0"/>
              </a:rPr>
              <a:t>Darihus</a:t>
            </a:r>
            <a:endParaRPr lang="fr-FR" sz="1600" dirty="0" smtClean="0">
              <a:latin typeface="Times New Roman" panose="02020603050405020304" pitchFamily="18" charset="0"/>
              <a:cs typeface="Times New Roman" panose="02020603050405020304" pitchFamily="18" charset="0"/>
            </a:endParaRPr>
          </a:p>
          <a:p>
            <a:pPr marL="57150" lvl="0" indent="-285750" algn="just">
              <a:lnSpc>
                <a:spcPct val="115000"/>
              </a:lnSpc>
              <a:buFont typeface="Wingdings" panose="05000000000000000000" pitchFamily="2" charset="2"/>
              <a:buChar char="v"/>
            </a:pPr>
            <a:r>
              <a:rPr lang="fr-FR" sz="1400" kern="100" dirty="0" smtClean="0">
                <a:latin typeface="Times New Roman" panose="02020603050405020304" pitchFamily="18" charset="0"/>
                <a:ea typeface="DengXian" panose="02010600030101010101" pitchFamily="2" charset="-122"/>
                <a:cs typeface="Times New Roman" panose="02020603050405020304" pitchFamily="18" charset="0"/>
              </a:rPr>
              <a:t>22ans </a:t>
            </a:r>
            <a:endParaRPr lang="fr-FR" sz="1600" dirty="0" smtClean="0">
              <a:latin typeface="Times New Roman" panose="02020603050405020304" pitchFamily="18" charset="0"/>
              <a:cs typeface="Times New Roman" panose="02020603050405020304" pitchFamily="18" charset="0"/>
            </a:endParaRPr>
          </a:p>
          <a:p>
            <a:pPr marL="57150" lvl="0" indent="-285750" algn="just">
              <a:lnSpc>
                <a:spcPct val="115000"/>
              </a:lnSpc>
              <a:buFont typeface="Wingdings" panose="05000000000000000000" pitchFamily="2" charset="2"/>
              <a:buChar char="v"/>
            </a:pPr>
            <a:r>
              <a:rPr lang="fr-FR" sz="1600" dirty="0" smtClean="0">
                <a:latin typeface="Times New Roman" panose="02020603050405020304" pitchFamily="18" charset="0"/>
                <a:cs typeface="Times New Roman" panose="02020603050405020304" pitchFamily="18" charset="0"/>
              </a:rPr>
              <a:t>Célibataire</a:t>
            </a:r>
          </a:p>
          <a:p>
            <a:pPr marL="57150" lvl="0" indent="-285750" algn="just">
              <a:lnSpc>
                <a:spcPct val="115000"/>
              </a:lnSpc>
              <a:buFont typeface="Wingdings" panose="05000000000000000000" pitchFamily="2" charset="2"/>
              <a:buChar char="v"/>
            </a:pPr>
            <a:r>
              <a:rPr kumimoji="0" lang="fr-FR" sz="1600" b="0" i="0" u="none" strike="noStrike" kern="100" cap="none" spc="0" normalizeH="0" baseline="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rPr>
              <a:t>Passionné de New</a:t>
            </a:r>
            <a:r>
              <a:rPr kumimoji="0" lang="fr-FR" sz="1600" b="0" i="0" u="none" strike="noStrike" kern="100" cap="none" spc="0" normalizeH="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rPr>
              <a:t> Tech et de musique</a:t>
            </a:r>
            <a:endParaRPr kumimoji="0" lang="fr-FR" sz="1400" b="0" i="0" u="none" strike="noStrike" kern="100" cap="none" spc="0" normalizeH="0" baseline="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endParaRPr>
          </a:p>
          <a:p>
            <a:endParaRPr lang="fr-FR" sz="1600" dirty="0"/>
          </a:p>
        </p:txBody>
      </p:sp>
      <p:pic>
        <p:nvPicPr>
          <p:cNvPr id="7" name="Imag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95742" y="2380137"/>
            <a:ext cx="2161080" cy="2071050"/>
          </a:xfrm>
          <a:prstGeom prst="rect">
            <a:avLst/>
          </a:prstGeom>
        </p:spPr>
      </p:pic>
      <p:sp>
        <p:nvSpPr>
          <p:cNvPr id="8" name="ZoneTexte 7"/>
          <p:cNvSpPr txBox="1"/>
          <p:nvPr/>
        </p:nvSpPr>
        <p:spPr>
          <a:xfrm>
            <a:off x="5155558" y="1742633"/>
            <a:ext cx="1588897" cy="369332"/>
          </a:xfrm>
          <a:prstGeom prst="rect">
            <a:avLst/>
          </a:prstGeom>
          <a:solidFill>
            <a:schemeClr val="accent1">
              <a:lumMod val="60000"/>
              <a:lumOff val="40000"/>
            </a:schemeClr>
          </a:solidFill>
        </p:spPr>
        <p:txBody>
          <a:bodyPr wrap="none" rtlCol="0">
            <a:spAutoFit/>
          </a:bodyPr>
          <a:lstStyle/>
          <a:p>
            <a:r>
              <a:rPr lang="fr-FR" dirty="0" smtClean="0">
                <a:latin typeface="Times New Roman" panose="02020603050405020304" pitchFamily="18" charset="0"/>
                <a:cs typeface="Times New Roman" panose="02020603050405020304" pitchFamily="18" charset="0"/>
              </a:rPr>
              <a:t>D’où je viens? </a:t>
            </a:r>
            <a:endParaRPr lang="fr-FR" dirty="0">
              <a:latin typeface="Times New Roman" panose="02020603050405020304" pitchFamily="18" charset="0"/>
              <a:cs typeface="Times New Roman" panose="02020603050405020304" pitchFamily="18" charset="0"/>
            </a:endParaRPr>
          </a:p>
        </p:txBody>
      </p:sp>
      <p:sp>
        <p:nvSpPr>
          <p:cNvPr id="9" name="ZoneTexte 8"/>
          <p:cNvSpPr txBox="1"/>
          <p:nvPr/>
        </p:nvSpPr>
        <p:spPr>
          <a:xfrm>
            <a:off x="4297292" y="4451187"/>
            <a:ext cx="3157980" cy="835613"/>
          </a:xfrm>
          <a:prstGeom prst="rect">
            <a:avLst/>
          </a:prstGeom>
          <a:noFill/>
        </p:spPr>
        <p:txBody>
          <a:bodyPr wrap="none" rtlCol="0">
            <a:spAutoFit/>
          </a:bodyPr>
          <a:lstStyle/>
          <a:p>
            <a:pPr marL="285750" lvl="0" indent="-285750" algn="just">
              <a:lnSpc>
                <a:spcPct val="115000"/>
              </a:lnSpc>
              <a:buFont typeface="Wingdings" panose="05000000000000000000" pitchFamily="2" charset="2"/>
              <a:buChar char="ü"/>
            </a:pPr>
            <a:r>
              <a:rPr lang="fr-FR" sz="1400" kern="100" noProof="0" dirty="0" smtClean="0">
                <a:latin typeface="Times New Roman" panose="02020603050405020304" pitchFamily="18" charset="0"/>
                <a:ea typeface="DengXian" panose="02010600030101010101" pitchFamily="2" charset="-122"/>
                <a:cs typeface="Times New Roman" panose="02020603050405020304" pitchFamily="18" charset="0"/>
              </a:rPr>
              <a:t>20 ans Technicien système réseaux </a:t>
            </a:r>
            <a:endParaRPr kumimoji="0" lang="fr-FR" sz="1400" b="0" i="0" u="none" strike="noStrike" kern="100" cap="none" spc="0" normalizeH="0" baseline="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endParaRPr>
          </a:p>
          <a:p>
            <a:pPr marL="285750" lvl="0" indent="-285750" algn="just">
              <a:lnSpc>
                <a:spcPct val="115000"/>
              </a:lnSpc>
              <a:buFont typeface="Wingdings" panose="05000000000000000000" pitchFamily="2" charset="2"/>
              <a:buChar char="ü"/>
            </a:pPr>
            <a:r>
              <a:rPr kumimoji="0" lang="fr-FR" sz="1400" b="0" i="0" u="none" strike="noStrike" kern="100" cap="none" spc="0" normalizeH="0" baseline="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rPr>
              <a:t>2022-2024</a:t>
            </a:r>
            <a:r>
              <a:rPr kumimoji="0" lang="fr-FR" sz="1400" b="0" i="0" u="none" strike="noStrike" kern="100" cap="none" spc="0" normalizeH="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rPr>
              <a:t> Alternance </a:t>
            </a:r>
            <a:r>
              <a:rPr kumimoji="0" lang="fr-FR" sz="1400" b="0" i="0" u="none" strike="noStrike" kern="100" cap="none" spc="0" normalizeH="0" noProof="0" dirty="0" err="1"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rPr>
              <a:t>Remakefra</a:t>
            </a:r>
            <a:r>
              <a:rPr lang="fr-FR" sz="1400" kern="100" dirty="0" err="1" smtClean="0">
                <a:latin typeface="Times New Roman" panose="02020603050405020304" pitchFamily="18" charset="0"/>
                <a:ea typeface="DengXian" panose="02010600030101010101" pitchFamily="2" charset="-122"/>
                <a:cs typeface="Times New Roman" panose="02020603050405020304" pitchFamily="18" charset="0"/>
              </a:rPr>
              <a:t>nce</a:t>
            </a:r>
            <a:endParaRPr kumimoji="0" lang="fr-FR" sz="1400" b="0" i="0" u="none" strike="noStrike" kern="100" cap="none" spc="0" normalizeH="0" baseline="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endParaRPr>
          </a:p>
          <a:p>
            <a:pPr marL="285750" lvl="0" indent="-285750" algn="just">
              <a:lnSpc>
                <a:spcPct val="115000"/>
              </a:lnSpc>
              <a:buFont typeface="Wingdings" panose="05000000000000000000" pitchFamily="2" charset="2"/>
              <a:buChar char="ü"/>
            </a:pPr>
            <a:endParaRPr kumimoji="0" lang="fr-FR" sz="1400" b="0" i="0" u="none" strike="noStrike" kern="100" cap="none" spc="0" normalizeH="0" baseline="0" noProof="0" dirty="0">
              <a:ln>
                <a:noFill/>
              </a:ln>
              <a:effectLst/>
              <a:uLnTx/>
              <a:uFillTx/>
              <a:latin typeface="Times New Roman" panose="02020603050405020304" pitchFamily="18" charset="0"/>
              <a:ea typeface="DengXian" panose="02010600030101010101" pitchFamily="2" charset="-122"/>
              <a:cs typeface="Times New Roman" panose="02020603050405020304" pitchFamily="18" charset="0"/>
            </a:endParaRPr>
          </a:p>
        </p:txBody>
      </p:sp>
      <p:sp>
        <p:nvSpPr>
          <p:cNvPr id="10" name="ZoneTexte 9"/>
          <p:cNvSpPr txBox="1"/>
          <p:nvPr/>
        </p:nvSpPr>
        <p:spPr>
          <a:xfrm>
            <a:off x="9505839" y="1678724"/>
            <a:ext cx="1281120" cy="369332"/>
          </a:xfrm>
          <a:prstGeom prst="rect">
            <a:avLst/>
          </a:prstGeom>
          <a:solidFill>
            <a:schemeClr val="accent1">
              <a:lumMod val="60000"/>
              <a:lumOff val="40000"/>
            </a:schemeClr>
          </a:solidFill>
          <a:ln>
            <a:solidFill>
              <a:schemeClr val="accent1">
                <a:lumMod val="60000"/>
                <a:lumOff val="40000"/>
              </a:schemeClr>
            </a:solidFill>
          </a:ln>
        </p:spPr>
        <p:txBody>
          <a:bodyPr wrap="none" rtlCol="0">
            <a:spAutoFit/>
          </a:bodyPr>
          <a:lstStyle/>
          <a:p>
            <a:r>
              <a:rPr lang="fr-FR" dirty="0" smtClean="0">
                <a:latin typeface="Times New Roman" panose="02020603050405020304" pitchFamily="18" charset="0"/>
                <a:cs typeface="Times New Roman" panose="02020603050405020304" pitchFamily="18" charset="0"/>
              </a:rPr>
              <a:t>O</a:t>
            </a:r>
            <a:r>
              <a:rPr lang="fr-FR" dirty="0">
                <a:solidFill>
                  <a:prstClr val="black"/>
                </a:solidFill>
                <a:latin typeface="Times New Roman" panose="02020603050405020304" pitchFamily="18" charset="0"/>
                <a:cs typeface="Times New Roman" panose="02020603050405020304" pitchFamily="18" charset="0"/>
              </a:rPr>
              <a:t>ù</a:t>
            </a:r>
            <a:r>
              <a:rPr lang="fr-FR" dirty="0" smtClean="0">
                <a:latin typeface="Times New Roman" panose="02020603050405020304" pitchFamily="18" charset="0"/>
                <a:cs typeface="Times New Roman" panose="02020603050405020304" pitchFamily="18" charset="0"/>
              </a:rPr>
              <a:t> je vais? </a:t>
            </a:r>
            <a:endParaRPr lang="fr-FR" dirty="0">
              <a:latin typeface="Times New Roman" panose="02020603050405020304" pitchFamily="18" charset="0"/>
              <a:cs typeface="Times New Roman" panose="02020603050405020304" pitchFamily="18" charset="0"/>
            </a:endParaRPr>
          </a:p>
        </p:txBody>
      </p:sp>
      <p:pic>
        <p:nvPicPr>
          <p:cNvPr id="14" name="Imag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4837" y="2161589"/>
            <a:ext cx="2143125" cy="2143125"/>
          </a:xfrm>
          <a:prstGeom prst="rect">
            <a:avLst/>
          </a:prstGeom>
        </p:spPr>
      </p:pic>
      <p:sp>
        <p:nvSpPr>
          <p:cNvPr id="16" name="ZoneTexte 15"/>
          <p:cNvSpPr txBox="1"/>
          <p:nvPr/>
        </p:nvSpPr>
        <p:spPr>
          <a:xfrm>
            <a:off x="7956666" y="4304714"/>
            <a:ext cx="4379469" cy="1083374"/>
          </a:xfrm>
          <a:prstGeom prst="rect">
            <a:avLst/>
          </a:prstGeom>
          <a:noFill/>
        </p:spPr>
        <p:txBody>
          <a:bodyPr wrap="none" rtlCol="0">
            <a:spAutoFit/>
          </a:bodyPr>
          <a:lstStyle/>
          <a:p>
            <a:pPr marL="285750" lvl="0" indent="-285750" algn="just">
              <a:lnSpc>
                <a:spcPct val="115000"/>
              </a:lnSpc>
              <a:buFont typeface="Wingdings" panose="05000000000000000000" pitchFamily="2" charset="2"/>
              <a:buChar char="Ø"/>
            </a:pPr>
            <a:r>
              <a:rPr kumimoji="0" lang="fr-FR" sz="1400" b="0" i="0" u="none" strike="noStrike" kern="100" cap="none" spc="0" normalizeH="0" baseline="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rPr>
              <a:t>2022 : </a:t>
            </a:r>
            <a:r>
              <a:rPr kumimoji="0" lang="fr-FR" sz="1400" b="0" i="0" u="none" strike="noStrike" kern="100" cap="none" spc="0" normalizeH="0" baseline="0" noProof="0" dirty="0" err="1"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rPr>
              <a:t>Bachelor</a:t>
            </a:r>
            <a:r>
              <a:rPr kumimoji="0" lang="fr-FR" sz="1400" b="0" i="0" u="none" strike="noStrike" kern="100" cap="none" spc="0" normalizeH="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rPr>
              <a:t> 1 Informatique et technologie INF</a:t>
            </a:r>
            <a:endParaRPr kumimoji="0" lang="fr-FR" sz="1400" b="0" i="0" u="none" strike="noStrike" kern="100" cap="none" spc="0" normalizeH="0" baseline="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endParaRPr>
          </a:p>
          <a:p>
            <a:pPr marL="285750" lvl="0" indent="-285750" algn="just">
              <a:lnSpc>
                <a:spcPct val="115000"/>
              </a:lnSpc>
              <a:buFont typeface="Wingdings" panose="05000000000000000000" pitchFamily="2" charset="2"/>
              <a:buChar char="Ø"/>
            </a:pPr>
            <a:r>
              <a:rPr kumimoji="0" lang="fr-FR" sz="1400" b="0" i="0" u="none" strike="noStrike" kern="100" cap="none" spc="0" normalizeH="0" baseline="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rPr>
              <a:t>2023 : obtention du titre TSSR</a:t>
            </a:r>
          </a:p>
          <a:p>
            <a:pPr marL="285750" lvl="0" indent="-285750" algn="just">
              <a:lnSpc>
                <a:spcPct val="115000"/>
              </a:lnSpc>
              <a:buFont typeface="Wingdings" panose="05000000000000000000" pitchFamily="2" charset="2"/>
              <a:buChar char="Ø"/>
            </a:pPr>
            <a:r>
              <a:rPr kumimoji="0" lang="fr-FR" sz="1400" b="0" i="0" u="none" strike="noStrike" kern="100" cap="none" spc="0" normalizeH="0" baseline="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rPr>
              <a:t>2024 : Licence</a:t>
            </a:r>
            <a:r>
              <a:rPr kumimoji="0" lang="fr-FR" sz="1400" b="0" i="0" u="none" strike="noStrike" kern="100" cap="none" spc="0" normalizeH="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rPr>
              <a:t> Administrateur infrastructure sécurisée</a:t>
            </a:r>
            <a:endParaRPr kumimoji="0" lang="fr-FR" sz="1400" b="0" i="0" u="none" strike="noStrike" kern="100" cap="none" spc="0" normalizeH="0" baseline="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endParaRPr>
          </a:p>
          <a:p>
            <a:pPr marL="285750" lvl="0" indent="-285750" algn="just">
              <a:lnSpc>
                <a:spcPct val="115000"/>
              </a:lnSpc>
              <a:buFont typeface="Wingdings" panose="05000000000000000000" pitchFamily="2" charset="2"/>
              <a:buChar char="Ø"/>
            </a:pPr>
            <a:r>
              <a:rPr kumimoji="0" lang="fr-FR" sz="1400" b="0" i="0" u="none" strike="noStrike" kern="100" cap="none" spc="0" normalizeH="0" baseline="0" noProof="0" dirty="0" err="1"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rPr>
              <a:t>Next</a:t>
            </a:r>
            <a:r>
              <a:rPr kumimoji="0" lang="fr-FR" sz="1400" b="0" i="0" u="none" strike="noStrike" kern="100" cap="none" spc="0" normalizeH="0" baseline="0" noProof="0" dirty="0"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rPr>
              <a:t> : Master </a:t>
            </a:r>
            <a:r>
              <a:rPr kumimoji="0" lang="fr-FR" sz="1400" b="0" i="0" u="none" strike="noStrike" kern="100" cap="none" spc="0" normalizeH="0" baseline="0" noProof="0" dirty="0" err="1" smtClean="0">
                <a:ln>
                  <a:noFill/>
                </a:ln>
                <a:effectLst/>
                <a:uLnTx/>
                <a:uFillTx/>
                <a:latin typeface="Times New Roman" panose="02020603050405020304" pitchFamily="18" charset="0"/>
                <a:ea typeface="DengXian" panose="02010600030101010101" pitchFamily="2" charset="-122"/>
                <a:cs typeface="Times New Roman" panose="02020603050405020304" pitchFamily="18" charset="0"/>
              </a:rPr>
              <a:t>Cybersécurité</a:t>
            </a:r>
            <a:endParaRPr kumimoji="0" lang="fr-FR" sz="1400" b="0" i="0" u="none" strike="noStrike" kern="100" cap="none" spc="0" normalizeH="0" baseline="0" noProof="0" dirty="0">
              <a:ln>
                <a:noFill/>
              </a:ln>
              <a:effectLst/>
              <a:uLnTx/>
              <a:uFillTx/>
              <a:latin typeface="Times New Roman" panose="02020603050405020304" pitchFamily="18" charset="0"/>
              <a:ea typeface="DengXian" panose="02010600030101010101" pitchFamily="2" charset="-122"/>
              <a:cs typeface="Times New Roman" panose="02020603050405020304" pitchFamily="18" charset="0"/>
            </a:endParaRPr>
          </a:p>
        </p:txBody>
      </p:sp>
      <p:sp>
        <p:nvSpPr>
          <p:cNvPr id="17" name="ZoneTexte 16"/>
          <p:cNvSpPr txBox="1"/>
          <p:nvPr/>
        </p:nvSpPr>
        <p:spPr>
          <a:xfrm>
            <a:off x="4795742" y="-45099"/>
            <a:ext cx="2789546" cy="461665"/>
          </a:xfrm>
          <a:prstGeom prst="rect">
            <a:avLst/>
          </a:prstGeom>
          <a:noFill/>
        </p:spPr>
        <p:txBody>
          <a:bodyPr wrap="none" rtlCol="0">
            <a:spAutoFit/>
          </a:bodyPr>
          <a:lstStyle/>
          <a:p>
            <a:r>
              <a:rPr lang="fr-FR" sz="2400" u="sng" dirty="0" smtClean="0">
                <a:latin typeface="Algerian" panose="04020705040A02060702" pitchFamily="82" charset="0"/>
              </a:rPr>
              <a:t>1-Introductrion:</a:t>
            </a:r>
            <a:endParaRPr lang="fr-FR" sz="2400" u="sng" dirty="0">
              <a:latin typeface="Algerian" panose="04020705040A02060702" pitchFamily="82" charset="0"/>
            </a:endParaRPr>
          </a:p>
        </p:txBody>
      </p:sp>
      <p:sp>
        <p:nvSpPr>
          <p:cNvPr id="18" name="ZoneTexte 17"/>
          <p:cNvSpPr txBox="1"/>
          <p:nvPr/>
        </p:nvSpPr>
        <p:spPr>
          <a:xfrm>
            <a:off x="-50331" y="762315"/>
            <a:ext cx="3318537" cy="446276"/>
          </a:xfrm>
          <a:prstGeom prst="rect">
            <a:avLst/>
          </a:prstGeom>
          <a:noFill/>
        </p:spPr>
        <p:txBody>
          <a:bodyPr wrap="none" rtlCol="0">
            <a:spAutoFit/>
          </a:bodyPr>
          <a:lstStyle/>
          <a:p>
            <a:pPr marL="285750" lvl="0" indent="-285750" algn="just">
              <a:lnSpc>
                <a:spcPct val="115000"/>
              </a:lnSpc>
              <a:buFont typeface="Wingdings" panose="05000000000000000000" pitchFamily="2" charset="2"/>
              <a:buChar char="Ø"/>
            </a:pPr>
            <a:r>
              <a:rPr lang="fr-FR" sz="20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Présentation personnelle </a:t>
            </a:r>
            <a:r>
              <a:rPr lang="fr-FR" sz="2000" b="1" u="sng"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a:t>
            </a:r>
            <a:endParaRPr lang="fr-FR" sz="20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418863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pPr marL="285750" lvl="0" indent="-285750">
              <a:lnSpc>
                <a:spcPct val="115000"/>
              </a:lnSpc>
              <a:spcBef>
                <a:spcPts val="0"/>
              </a:spcBef>
            </a:pPr>
            <a:r>
              <a:rPr lang="fr-FR" sz="14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
            </a:r>
            <a:br>
              <a:rPr lang="fr-FR" sz="14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br>
            <a:endParaRPr lang="fr-FR" dirty="0"/>
          </a:p>
        </p:txBody>
      </p:sp>
      <p:sp>
        <p:nvSpPr>
          <p:cNvPr id="4" name="ZoneTexte 3"/>
          <p:cNvSpPr txBox="1"/>
          <p:nvPr/>
        </p:nvSpPr>
        <p:spPr>
          <a:xfrm>
            <a:off x="-15941" y="690964"/>
            <a:ext cx="3079882" cy="446276"/>
          </a:xfrm>
          <a:prstGeom prst="rect">
            <a:avLst/>
          </a:prstGeom>
          <a:noFill/>
        </p:spPr>
        <p:txBody>
          <a:bodyPr wrap="none" rtlCol="0">
            <a:spAutoFit/>
          </a:bodyPr>
          <a:lstStyle/>
          <a:p>
            <a:pPr marL="285750" lvl="0" indent="-285750" algn="just">
              <a:lnSpc>
                <a:spcPct val="115000"/>
              </a:lnSpc>
              <a:buFont typeface="Wingdings" panose="05000000000000000000" pitchFamily="2" charset="2"/>
              <a:buChar char="Ø"/>
            </a:pPr>
            <a:r>
              <a:rPr lang="fr-FR" sz="20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Présentation </a:t>
            </a:r>
            <a:r>
              <a:rPr lang="fr-FR" sz="2000" b="1" u="sng"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du projet </a:t>
            </a:r>
            <a:r>
              <a:rPr lang="fr-FR" sz="20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a:t>
            </a:r>
            <a:endParaRPr lang="fr-FR" sz="20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p:txBody>
      </p:sp>
      <p:sp>
        <p:nvSpPr>
          <p:cNvPr id="5" name="ZoneTexte 4"/>
          <p:cNvSpPr txBox="1"/>
          <p:nvPr/>
        </p:nvSpPr>
        <p:spPr>
          <a:xfrm>
            <a:off x="112876" y="1660736"/>
            <a:ext cx="3107004" cy="369332"/>
          </a:xfrm>
          <a:prstGeom prst="rect">
            <a:avLst/>
          </a:prstGeom>
          <a:noFill/>
        </p:spPr>
        <p:txBody>
          <a:bodyPr wrap="none" rtlCol="0">
            <a:spAutoFit/>
          </a:bodyPr>
          <a:lstStyle/>
          <a:p>
            <a:r>
              <a:rPr lang="fr-FR" sz="1600" b="1" u="sng" dirty="0" smtClean="0">
                <a:latin typeface="Times New Roman" panose="02020603050405020304" pitchFamily="18" charset="0"/>
                <a:cs typeface="Times New Roman" panose="02020603050405020304" pitchFamily="18" charset="0"/>
              </a:rPr>
              <a:t>2015</a:t>
            </a:r>
            <a:r>
              <a:rPr lang="fr-FR" b="1" u="sng" dirty="0" smtClean="0"/>
              <a:t>:</a:t>
            </a:r>
            <a:r>
              <a:rPr lang="fr-FR" dirty="0" smtClean="0"/>
              <a:t> </a:t>
            </a:r>
            <a:r>
              <a:rPr lang="fr-FR" sz="1600" dirty="0" smtClean="0">
                <a:latin typeface="Times New Roman" panose="02020603050405020304" pitchFamily="18" charset="0"/>
                <a:cs typeface="Times New Roman" panose="02020603050405020304" pitchFamily="18" charset="0"/>
              </a:rPr>
              <a:t>Fondation de Remake-</a:t>
            </a:r>
            <a:r>
              <a:rPr lang="fr-FR" sz="1600" dirty="0" err="1" smtClean="0">
                <a:latin typeface="Times New Roman" panose="02020603050405020304" pitchFamily="18" charset="0"/>
                <a:cs typeface="Times New Roman" panose="02020603050405020304" pitchFamily="18" charset="0"/>
              </a:rPr>
              <a:t>france</a:t>
            </a:r>
            <a:endParaRPr lang="fr-FR" sz="1600" dirty="0">
              <a:latin typeface="Times New Roman" panose="02020603050405020304" pitchFamily="18" charset="0"/>
              <a:cs typeface="Times New Roman" panose="02020603050405020304" pitchFamily="18" charset="0"/>
            </a:endParaRPr>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083" y="2255260"/>
            <a:ext cx="2210926" cy="2075563"/>
          </a:xfrm>
          <a:prstGeom prst="rect">
            <a:avLst/>
          </a:prstGeom>
        </p:spPr>
      </p:pic>
      <p:sp>
        <p:nvSpPr>
          <p:cNvPr id="7" name="ZoneTexte 6"/>
          <p:cNvSpPr txBox="1"/>
          <p:nvPr/>
        </p:nvSpPr>
        <p:spPr>
          <a:xfrm>
            <a:off x="0" y="4438185"/>
            <a:ext cx="4248615" cy="523220"/>
          </a:xfrm>
          <a:prstGeom prst="rect">
            <a:avLst/>
          </a:prstGeom>
          <a:noFill/>
        </p:spPr>
        <p:txBody>
          <a:bodyPr wrap="square" rtlCol="0">
            <a:spAutoFit/>
          </a:bodyPr>
          <a:lstStyle/>
          <a:p>
            <a:r>
              <a:rPr lang="fr-FR" sz="1400" dirty="0" smtClean="0">
                <a:latin typeface="Times New Roman" panose="02020603050405020304" pitchFamily="18" charset="0"/>
                <a:cs typeface="Times New Roman" panose="02020603050405020304" pitchFamily="18" charset="0"/>
              </a:rPr>
              <a:t>Entreprises spécialisée dans l’E-commerce électronique,</a:t>
            </a:r>
          </a:p>
          <a:p>
            <a:r>
              <a:rPr lang="fr-FR" sz="1400" dirty="0" smtClean="0">
                <a:latin typeface="Times New Roman" panose="02020603050405020304" pitchFamily="18" charset="0"/>
                <a:cs typeface="Times New Roman" panose="02020603050405020304" pitchFamily="18" charset="0"/>
              </a:rPr>
              <a:t> la maintenance informatique ainsi la gestion support. </a:t>
            </a:r>
            <a:endParaRPr lang="fr-FR" sz="1400" dirty="0">
              <a:latin typeface="Times New Roman" panose="02020603050405020304" pitchFamily="18" charset="0"/>
              <a:cs typeface="Times New Roman" panose="02020603050405020304" pitchFamily="18" charset="0"/>
            </a:endParaRPr>
          </a:p>
        </p:txBody>
      </p:sp>
      <p:sp>
        <p:nvSpPr>
          <p:cNvPr id="8" name="ZoneTexte 7"/>
          <p:cNvSpPr txBox="1"/>
          <p:nvPr/>
        </p:nvSpPr>
        <p:spPr>
          <a:xfrm>
            <a:off x="5229922" y="1682243"/>
            <a:ext cx="2080506" cy="338554"/>
          </a:xfrm>
          <a:prstGeom prst="rect">
            <a:avLst/>
          </a:prstGeom>
          <a:noFill/>
        </p:spPr>
        <p:txBody>
          <a:bodyPr wrap="none" rtlCol="0">
            <a:spAutoFit/>
          </a:bodyPr>
          <a:lstStyle/>
          <a:p>
            <a:r>
              <a:rPr lang="fr-FR" sz="1600" b="1" u="sng" dirty="0" smtClean="0">
                <a:latin typeface="Times New Roman" panose="02020603050405020304" pitchFamily="18" charset="0"/>
                <a:cs typeface="Times New Roman" panose="02020603050405020304" pitchFamily="18" charset="0"/>
              </a:rPr>
              <a:t>2020:</a:t>
            </a:r>
            <a:r>
              <a:rPr lang="fr-FR" sz="1600" b="1" dirty="0" smtClean="0">
                <a:latin typeface="Times New Roman" panose="02020603050405020304" pitchFamily="18" charset="0"/>
                <a:cs typeface="Times New Roman" panose="02020603050405020304" pitchFamily="18" charset="0"/>
              </a:rPr>
              <a:t> </a:t>
            </a:r>
            <a:r>
              <a:rPr lang="fr-FR" sz="1600" dirty="0" smtClean="0">
                <a:latin typeface="Times New Roman" panose="02020603050405020304" pitchFamily="18" charset="0"/>
                <a:cs typeface="Times New Roman" panose="02020603050405020304" pitchFamily="18" charset="0"/>
              </a:rPr>
              <a:t>Croissance  </a:t>
            </a:r>
            <a:r>
              <a:rPr lang="fr-FR" sz="1600" b="1" dirty="0" smtClean="0">
                <a:latin typeface="Times New Roman" panose="02020603050405020304" pitchFamily="18" charset="0"/>
                <a:cs typeface="Times New Roman" panose="02020603050405020304" pitchFamily="18" charset="0"/>
              </a:rPr>
              <a:t>      </a:t>
            </a:r>
            <a:endParaRPr lang="fr-FR" sz="1600" b="1" dirty="0">
              <a:latin typeface="Times New Roman" panose="02020603050405020304" pitchFamily="18" charset="0"/>
              <a:cs typeface="Times New Roman" panose="02020603050405020304" pitchFamily="18" charset="0"/>
            </a:endParaRPr>
          </a:p>
        </p:txBody>
      </p:sp>
      <p:pic>
        <p:nvPicPr>
          <p:cNvPr id="9" name="Image 8" descr="Une image contenant dessin, dessin humoristique, clipart, illustration">
            <a:extLst>
              <a:ext uri="{FF2B5EF4-FFF2-40B4-BE49-F238E27FC236}">
                <a16:creationId xmlns="" xmlns:a16="http://schemas.microsoft.com/office/drawing/2014/main" xmlns:lc="http://schemas.openxmlformats.org/drawingml/2006/lockedCanvas" id="{D32CAB5D-4904-EA7F-163F-ACC97544FE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23828" y="2204064"/>
            <a:ext cx="3411973" cy="2177953"/>
          </a:xfrm>
          <a:prstGeom prst="rect">
            <a:avLst/>
          </a:prstGeom>
        </p:spPr>
      </p:pic>
      <p:sp>
        <p:nvSpPr>
          <p:cNvPr id="10" name="ZoneTexte 9"/>
          <p:cNvSpPr txBox="1"/>
          <p:nvPr/>
        </p:nvSpPr>
        <p:spPr>
          <a:xfrm>
            <a:off x="5126632" y="4411395"/>
            <a:ext cx="1938736" cy="307777"/>
          </a:xfrm>
          <a:prstGeom prst="rect">
            <a:avLst/>
          </a:prstGeom>
          <a:noFill/>
        </p:spPr>
        <p:txBody>
          <a:bodyPr wrap="none" rtlCol="0">
            <a:spAutoFit/>
          </a:bodyPr>
          <a:lstStyle/>
          <a:p>
            <a:r>
              <a:rPr lang="fr-FR" sz="1400" dirty="0" smtClean="0">
                <a:latin typeface="Times New Roman" panose="02020603050405020304" pitchFamily="18" charset="0"/>
                <a:cs typeface="Times New Roman" panose="02020603050405020304" pitchFamily="18" charset="0"/>
              </a:rPr>
              <a:t>Expansion et innovation</a:t>
            </a:r>
            <a:endParaRPr lang="fr-FR" sz="1400" dirty="0">
              <a:latin typeface="Times New Roman" panose="02020603050405020304" pitchFamily="18" charset="0"/>
              <a:cs typeface="Times New Roman" panose="02020603050405020304" pitchFamily="18" charset="0"/>
            </a:endParaRPr>
          </a:p>
        </p:txBody>
      </p:sp>
      <p:sp>
        <p:nvSpPr>
          <p:cNvPr id="12" name="ZoneTexte 11"/>
          <p:cNvSpPr txBox="1"/>
          <p:nvPr/>
        </p:nvSpPr>
        <p:spPr>
          <a:xfrm>
            <a:off x="8721552" y="1660736"/>
            <a:ext cx="3425938" cy="338554"/>
          </a:xfrm>
          <a:prstGeom prst="rect">
            <a:avLst/>
          </a:prstGeom>
          <a:noFill/>
        </p:spPr>
        <p:txBody>
          <a:bodyPr wrap="none" rtlCol="0">
            <a:spAutoFit/>
          </a:bodyPr>
          <a:lstStyle/>
          <a:p>
            <a:r>
              <a:rPr lang="fr-FR" sz="1600" b="1" u="sng" dirty="0" smtClean="0"/>
              <a:t>2024:</a:t>
            </a:r>
            <a:r>
              <a:rPr lang="fr-FR" sz="1600" b="1" dirty="0" smtClean="0"/>
              <a:t>  </a:t>
            </a:r>
            <a:r>
              <a:rPr lang="fr-FR" sz="1600" dirty="0" smtClean="0">
                <a:latin typeface="Times New Roman" panose="02020603050405020304" pitchFamily="18" charset="0"/>
                <a:cs typeface="Times New Roman" panose="02020603050405020304" pitchFamily="18" charset="0"/>
              </a:rPr>
              <a:t>Décision de renforcer la sécurité</a:t>
            </a:r>
          </a:p>
        </p:txBody>
      </p:sp>
      <p:pic>
        <p:nvPicPr>
          <p:cNvPr id="14" name="Imag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47309" y="2255259"/>
            <a:ext cx="2843608" cy="1959901"/>
          </a:xfrm>
          <a:prstGeom prst="rect">
            <a:avLst/>
          </a:prstGeom>
        </p:spPr>
      </p:pic>
      <p:sp>
        <p:nvSpPr>
          <p:cNvPr id="15" name="ZoneTexte 14"/>
          <p:cNvSpPr txBox="1"/>
          <p:nvPr/>
        </p:nvSpPr>
        <p:spPr>
          <a:xfrm>
            <a:off x="8459268" y="4396006"/>
            <a:ext cx="3659977" cy="523220"/>
          </a:xfrm>
          <a:prstGeom prst="rect">
            <a:avLst/>
          </a:prstGeom>
          <a:noFill/>
        </p:spPr>
        <p:txBody>
          <a:bodyPr wrap="none" rtlCol="0">
            <a:spAutoFit/>
          </a:bodyPr>
          <a:lstStyle/>
          <a:p>
            <a:pPr algn="ctr"/>
            <a:r>
              <a:rPr lang="fr-FR" sz="1400" dirty="0" smtClean="0">
                <a:latin typeface="Times New Roman" panose="02020603050405020304" pitchFamily="18" charset="0"/>
                <a:cs typeface="Times New Roman" panose="02020603050405020304" pitchFamily="18" charset="0"/>
              </a:rPr>
              <a:t>Renforcement de la sécurité</a:t>
            </a:r>
          </a:p>
          <a:p>
            <a:pPr algn="ctr"/>
            <a:r>
              <a:rPr lang="fr-FR" sz="1400" dirty="0" smtClean="0">
                <a:latin typeface="Times New Roman" panose="02020603050405020304" pitchFamily="18" charset="0"/>
                <a:cs typeface="Times New Roman" panose="02020603050405020304" pitchFamily="18" charset="0"/>
              </a:rPr>
              <a:t>De l’infrastructure avec l’intégration CrowdSec </a:t>
            </a:r>
            <a:endParaRPr lang="fr-FR"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36387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t> </a:t>
            </a:r>
            <a:endParaRPr lang="fr-FR" dirty="0"/>
          </a:p>
        </p:txBody>
      </p:sp>
      <p:sp>
        <p:nvSpPr>
          <p:cNvPr id="3" name="Sous-titre 2"/>
          <p:cNvSpPr>
            <a:spLocks noGrp="1"/>
          </p:cNvSpPr>
          <p:nvPr>
            <p:ph type="subTitle" idx="1"/>
          </p:nvPr>
        </p:nvSpPr>
        <p:spPr>
          <a:xfrm>
            <a:off x="99431" y="848245"/>
            <a:ext cx="9144000" cy="1655762"/>
          </a:xfrm>
        </p:spPr>
        <p:txBody>
          <a:bodyPr/>
          <a:lstStyle/>
          <a:p>
            <a:pPr marL="57150" lvl="0" indent="-285750" algn="just">
              <a:lnSpc>
                <a:spcPct val="115000"/>
              </a:lnSpc>
              <a:spcBef>
                <a:spcPts val="0"/>
              </a:spcBef>
              <a:buFont typeface="Wingdings" panose="05000000000000000000" pitchFamily="2" charset="2"/>
              <a:buChar char="v"/>
            </a:pPr>
            <a:r>
              <a:rPr lang="fr-FR" sz="1400" dirty="0">
                <a:solidFill>
                  <a:prstClr val="black"/>
                </a:solidFill>
              </a:rPr>
              <a:t> </a:t>
            </a:r>
            <a:r>
              <a:rPr lang="fr-FR" sz="1400" dirty="0" smtClean="0">
                <a:solidFill>
                  <a:prstClr val="black"/>
                </a:solidFill>
                <a:latin typeface="Times New Roman" panose="02020603050405020304" pitchFamily="18" charset="0"/>
                <a:cs typeface="Times New Roman" panose="02020603050405020304" pitchFamily="18" charset="0"/>
              </a:rPr>
              <a:t>VMware Workstation Pro 17</a:t>
            </a:r>
            <a:endParaRPr lang="fr-FR" sz="1400" dirty="0">
              <a:solidFill>
                <a:prstClr val="black"/>
              </a:solidFill>
              <a:latin typeface="Times New Roman" panose="02020603050405020304" pitchFamily="18" charset="0"/>
              <a:cs typeface="Times New Roman" panose="02020603050405020304" pitchFamily="18" charset="0"/>
            </a:endParaRPr>
          </a:p>
          <a:p>
            <a:pPr marL="57150" lvl="0" indent="-285750" algn="just">
              <a:lnSpc>
                <a:spcPct val="115000"/>
              </a:lnSpc>
              <a:spcBef>
                <a:spcPts val="0"/>
              </a:spcBef>
              <a:buFont typeface="Wingdings" panose="05000000000000000000" pitchFamily="2" charset="2"/>
              <a:buChar char="v"/>
            </a:pPr>
            <a:r>
              <a:rPr lang="fr-FR" sz="14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1</a:t>
            </a:r>
            <a:r>
              <a:rPr lang="fr-FR" sz="14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 serveur web</a:t>
            </a:r>
            <a:endParaRPr lang="fr-FR" sz="1400" dirty="0">
              <a:solidFill>
                <a:prstClr val="black"/>
              </a:solidFill>
              <a:latin typeface="Times New Roman" panose="02020603050405020304" pitchFamily="18" charset="0"/>
              <a:cs typeface="Times New Roman" panose="02020603050405020304" pitchFamily="18" charset="0"/>
            </a:endParaRPr>
          </a:p>
          <a:p>
            <a:pPr marL="57150" lvl="0" indent="-285750" algn="just">
              <a:lnSpc>
                <a:spcPct val="115000"/>
              </a:lnSpc>
              <a:spcBef>
                <a:spcPts val="0"/>
              </a:spcBef>
              <a:buFont typeface="Wingdings" panose="05000000000000000000" pitchFamily="2" charset="2"/>
              <a:buChar char="v"/>
            </a:pPr>
            <a:r>
              <a:rPr lang="fr-FR" sz="1400" dirty="0" smtClean="0">
                <a:solidFill>
                  <a:prstClr val="black"/>
                </a:solidFill>
                <a:latin typeface="Times New Roman" panose="02020603050405020304" pitchFamily="18" charset="0"/>
                <a:cs typeface="Times New Roman" panose="02020603050405020304" pitchFamily="18" charset="0"/>
              </a:rPr>
              <a:t>Routeur Cisco</a:t>
            </a:r>
            <a:endParaRPr lang="fr-FR" sz="1400" dirty="0">
              <a:solidFill>
                <a:prstClr val="black"/>
              </a:solidFill>
              <a:latin typeface="Times New Roman" panose="02020603050405020304" pitchFamily="18" charset="0"/>
              <a:cs typeface="Times New Roman" panose="02020603050405020304" pitchFamily="18" charset="0"/>
            </a:endParaRPr>
          </a:p>
          <a:p>
            <a:pPr marL="57150" lvl="0" indent="-285750" algn="just">
              <a:lnSpc>
                <a:spcPct val="115000"/>
              </a:lnSpc>
              <a:spcBef>
                <a:spcPts val="0"/>
              </a:spcBef>
              <a:buFont typeface="Wingdings" panose="05000000000000000000" pitchFamily="2" charset="2"/>
              <a:buChar char="v"/>
            </a:pPr>
            <a:r>
              <a:rPr lang="fr-FR" sz="14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1 PC utilisateur Test</a:t>
            </a:r>
          </a:p>
          <a:p>
            <a:pPr marL="57150" lvl="0" indent="-285750" algn="just">
              <a:lnSpc>
                <a:spcPct val="115000"/>
              </a:lnSpc>
              <a:spcBef>
                <a:spcPts val="0"/>
              </a:spcBef>
              <a:buFont typeface="Wingdings" panose="05000000000000000000" pitchFamily="2" charset="2"/>
              <a:buChar char="v"/>
            </a:pPr>
            <a:r>
              <a:rPr lang="fr-FR" sz="14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Une machine physique</a:t>
            </a:r>
          </a:p>
          <a:p>
            <a:pPr marL="57150" lvl="0" indent="-285750" algn="just">
              <a:lnSpc>
                <a:spcPct val="115000"/>
              </a:lnSpc>
              <a:spcBef>
                <a:spcPts val="0"/>
              </a:spcBef>
              <a:buFont typeface="Wingdings" panose="05000000000000000000" pitchFamily="2" charset="2"/>
              <a:buChar char="v"/>
            </a:pPr>
            <a:r>
              <a:rPr lang="fr-FR" sz="14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1</a:t>
            </a:r>
            <a:r>
              <a:rPr lang="fr-FR" sz="14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 pare-feu </a:t>
            </a:r>
            <a:r>
              <a:rPr lang="fr-FR" sz="1400" kern="100" dirty="0" err="1"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Pfsense</a:t>
            </a:r>
            <a:endParaRPr lang="fr-FR" sz="14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a:p>
            <a:endParaRPr lang="fr-FR" dirty="0"/>
          </a:p>
        </p:txBody>
      </p:sp>
      <p:sp>
        <p:nvSpPr>
          <p:cNvPr id="5" name="ZoneTexte 4"/>
          <p:cNvSpPr txBox="1"/>
          <p:nvPr/>
        </p:nvSpPr>
        <p:spPr>
          <a:xfrm>
            <a:off x="183655" y="291047"/>
            <a:ext cx="3220946" cy="417871"/>
          </a:xfrm>
          <a:prstGeom prst="rect">
            <a:avLst/>
          </a:prstGeom>
          <a:noFill/>
        </p:spPr>
        <p:txBody>
          <a:bodyPr wrap="none" rtlCol="0">
            <a:spAutoFit/>
          </a:bodyPr>
          <a:lstStyle/>
          <a:p>
            <a:pPr marL="285750" lvl="0" indent="-285750" algn="just">
              <a:lnSpc>
                <a:spcPct val="115000"/>
              </a:lnSpc>
              <a:buFont typeface="Wingdings" panose="05000000000000000000" pitchFamily="2" charset="2"/>
              <a:buChar char="Ø"/>
            </a:pPr>
            <a:r>
              <a:rPr lang="fr-FR" sz="20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Infrastructure </a:t>
            </a:r>
            <a:r>
              <a:rPr lang="fr-FR" sz="2000" b="1" u="sng"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Existante:</a:t>
            </a:r>
            <a:endParaRPr lang="fr-FR" sz="20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p:txBody>
      </p:sp>
      <p:pic>
        <p:nvPicPr>
          <p:cNvPr id="7" name="Imag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84359" y="291047"/>
            <a:ext cx="6996463" cy="5597171"/>
          </a:xfrm>
          <a:prstGeom prst="rect">
            <a:avLst/>
          </a:prstGeom>
        </p:spPr>
      </p:pic>
    </p:spTree>
    <p:extLst>
      <p:ext uri="{BB962C8B-B14F-4D97-AF65-F5344CB8AC3E}">
        <p14:creationId xmlns:p14="http://schemas.microsoft.com/office/powerpoint/2010/main" val="22024296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887537"/>
            <a:ext cx="9144000" cy="2387600"/>
          </a:xfrm>
        </p:spPr>
        <p:txBody>
          <a:bodyPr>
            <a:normAutofit/>
          </a:bodyPr>
          <a:lstStyle/>
          <a:p>
            <a:r>
              <a:rPr lang="fr-FR" sz="2400" b="1" u="sng" dirty="0" smtClean="0">
                <a:latin typeface="Times New Roman" panose="02020603050405020304" pitchFamily="18" charset="0"/>
                <a:cs typeface="Times New Roman" panose="02020603050405020304" pitchFamily="18" charset="0"/>
              </a:rPr>
              <a:t>2- Objet du renforcement de la sécurité de l’infrastructure:</a:t>
            </a:r>
            <a:endParaRPr lang="fr-FR" sz="2400" b="1" u="sng" dirty="0">
              <a:latin typeface="Times New Roman" panose="02020603050405020304" pitchFamily="18" charset="0"/>
              <a:cs typeface="Times New Roman" panose="02020603050405020304" pitchFamily="18" charset="0"/>
            </a:endParaRPr>
          </a:p>
        </p:txBody>
      </p:sp>
      <p:sp>
        <p:nvSpPr>
          <p:cNvPr id="4" name="ZoneTexte 3"/>
          <p:cNvSpPr txBox="1"/>
          <p:nvPr/>
        </p:nvSpPr>
        <p:spPr>
          <a:xfrm>
            <a:off x="139700" y="815964"/>
            <a:ext cx="2949269" cy="338554"/>
          </a:xfrm>
          <a:prstGeom prst="rect">
            <a:avLst/>
          </a:prstGeom>
          <a:noFill/>
          <a:ln>
            <a:solidFill>
              <a:schemeClr val="bg2">
                <a:lumMod val="10000"/>
              </a:schemeClr>
            </a:solidFill>
          </a:ln>
        </p:spPr>
        <p:txBody>
          <a:bodyPr wrap="none" rtlCol="0">
            <a:spAutoFit/>
          </a:bodyPr>
          <a:lstStyle/>
          <a:p>
            <a:r>
              <a:rPr lang="fr-FR" sz="1600" dirty="0" smtClean="0">
                <a:latin typeface="Times New Roman" panose="02020603050405020304" pitchFamily="18" charset="0"/>
                <a:cs typeface="Times New Roman" panose="02020603050405020304" pitchFamily="18" charset="0"/>
              </a:rPr>
              <a:t>Détection proactive des menaces</a:t>
            </a:r>
            <a:endParaRPr lang="fr-FR" sz="1600" dirty="0">
              <a:latin typeface="Times New Roman" panose="02020603050405020304" pitchFamily="18" charset="0"/>
              <a:cs typeface="Times New Roman" panose="02020603050405020304" pitchFamily="18" charset="0"/>
            </a:endParaRPr>
          </a:p>
        </p:txBody>
      </p:sp>
      <p:pic>
        <p:nvPicPr>
          <p:cNvPr id="7170" name="Picture 2" descr="https://www.it-connect.fr/wp-content-itc/uploads/2022/06/tuto-crowdsec-console-10-800x73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341471"/>
            <a:ext cx="3617237" cy="2825193"/>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p:cNvSpPr txBox="1"/>
          <p:nvPr/>
        </p:nvSpPr>
        <p:spPr>
          <a:xfrm>
            <a:off x="5091108" y="815964"/>
            <a:ext cx="1195392" cy="338554"/>
          </a:xfrm>
          <a:prstGeom prst="rect">
            <a:avLst/>
          </a:prstGeom>
          <a:noFill/>
          <a:ln>
            <a:solidFill>
              <a:schemeClr val="tx1">
                <a:lumMod val="95000"/>
                <a:lumOff val="5000"/>
              </a:schemeClr>
            </a:solidFill>
          </a:ln>
        </p:spPr>
        <p:txBody>
          <a:bodyPr wrap="none" rtlCol="0">
            <a:spAutoFit/>
          </a:bodyPr>
          <a:lstStyle/>
          <a:p>
            <a:r>
              <a:rPr lang="fr-FR" sz="1600" dirty="0" smtClean="0">
                <a:latin typeface="Times New Roman" panose="02020603050405020304" pitchFamily="18" charset="0"/>
                <a:cs typeface="Times New Roman" panose="02020603050405020304" pitchFamily="18" charset="0"/>
              </a:rPr>
              <a:t>Adaptabilité</a:t>
            </a:r>
            <a:endParaRPr lang="fr-FR" sz="1600" dirty="0">
              <a:latin typeface="Times New Roman" panose="02020603050405020304" pitchFamily="18" charset="0"/>
              <a:cs typeface="Times New Roman" panose="02020603050405020304" pitchFamily="18" charset="0"/>
            </a:endParaRPr>
          </a:p>
        </p:txBody>
      </p:sp>
      <p:pic>
        <p:nvPicPr>
          <p:cNvPr id="7172" name="Picture 4" descr="icône de concept d'adaptabilité. illustration de la ligne mince de l'idée  abstraite caractéristique de l'entrepreneur social. flexibilité et capacité  de transformation. dessin de couleur de contour isolé de vecteur. trait  modifiable 53499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8737" y="1414740"/>
            <a:ext cx="3000134" cy="2736737"/>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p:cNvSpPr txBox="1"/>
          <p:nvPr/>
        </p:nvSpPr>
        <p:spPr>
          <a:xfrm>
            <a:off x="9587847" y="866917"/>
            <a:ext cx="863763" cy="338554"/>
          </a:xfrm>
          <a:prstGeom prst="rect">
            <a:avLst/>
          </a:prstGeom>
          <a:noFill/>
          <a:ln>
            <a:solidFill>
              <a:schemeClr val="tx1">
                <a:lumMod val="95000"/>
                <a:lumOff val="5000"/>
              </a:schemeClr>
            </a:solidFill>
          </a:ln>
        </p:spPr>
        <p:txBody>
          <a:bodyPr wrap="none" rtlCol="0">
            <a:spAutoFit/>
          </a:bodyPr>
          <a:lstStyle/>
          <a:p>
            <a:r>
              <a:rPr lang="fr-FR" sz="1600" dirty="0" smtClean="0">
                <a:latin typeface="Times New Roman" panose="02020603050405020304" pitchFamily="18" charset="0"/>
                <a:cs typeface="Times New Roman" panose="02020603050405020304" pitchFamily="18" charset="0"/>
              </a:rPr>
              <a:t>Sécurité</a:t>
            </a:r>
            <a:endParaRPr lang="fr-FR" sz="1600" dirty="0">
              <a:latin typeface="Times New Roman" panose="02020603050405020304" pitchFamily="18" charset="0"/>
              <a:cs typeface="Times New Roman" panose="02020603050405020304" pitchFamily="18" charset="0"/>
            </a:endParaRPr>
          </a:p>
        </p:txBody>
      </p:sp>
      <p:pic>
        <p:nvPicPr>
          <p:cNvPr id="7178" name="Picture 10" descr="Sécurité des infrastructures informatiques: bases de données, serveurs et équipement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44185" y="1275714"/>
            <a:ext cx="3215158" cy="2240667"/>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 11" descr="Une image contenant Graphique, Police, logo, symbole">
            <a:extLst>
              <a:ext uri="{FF2B5EF4-FFF2-40B4-BE49-F238E27FC236}">
                <a16:creationId xmlns="" xmlns:a16="http://schemas.microsoft.com/office/drawing/2014/main" xmlns:lc="http://schemas.openxmlformats.org/drawingml/2006/lockedCanvas" id="{3FC0C241-2017-C55B-50FD-C5088AEFF0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3447" y="4756637"/>
            <a:ext cx="3277361" cy="1935152"/>
          </a:xfrm>
          <a:prstGeom prst="rect">
            <a:avLst/>
          </a:prstGeom>
        </p:spPr>
      </p:pic>
      <p:sp>
        <p:nvSpPr>
          <p:cNvPr id="8" name="ZoneTexte 7"/>
          <p:cNvSpPr txBox="1"/>
          <p:nvPr/>
        </p:nvSpPr>
        <p:spPr>
          <a:xfrm>
            <a:off x="63500" y="5436957"/>
            <a:ext cx="2109873" cy="338554"/>
          </a:xfrm>
          <a:prstGeom prst="rect">
            <a:avLst/>
          </a:prstGeom>
          <a:noFill/>
          <a:ln>
            <a:solidFill>
              <a:schemeClr val="tx1">
                <a:lumMod val="95000"/>
                <a:lumOff val="5000"/>
              </a:schemeClr>
            </a:solidFill>
          </a:ln>
        </p:spPr>
        <p:txBody>
          <a:bodyPr wrap="none" rtlCol="0">
            <a:spAutoFit/>
          </a:bodyPr>
          <a:lstStyle/>
          <a:p>
            <a:r>
              <a:rPr lang="fr-FR" sz="1600" dirty="0" err="1" smtClean="0">
                <a:latin typeface="Times New Roman" panose="02020603050405020304" pitchFamily="18" charset="0"/>
                <a:cs typeface="Times New Roman" panose="02020603050405020304" pitchFamily="18" charset="0"/>
              </a:rPr>
              <a:t>Scalabilité</a:t>
            </a:r>
            <a:r>
              <a:rPr lang="fr-FR" sz="1600" dirty="0" smtClean="0">
                <a:latin typeface="Times New Roman" panose="02020603050405020304" pitchFamily="18" charset="0"/>
                <a:cs typeface="Times New Roman" panose="02020603050405020304" pitchFamily="18" charset="0"/>
              </a:rPr>
              <a:t> et flexibilité</a:t>
            </a:r>
            <a:endParaRPr lang="fr-FR" sz="1600" dirty="0">
              <a:latin typeface="Times New Roman" panose="02020603050405020304" pitchFamily="18" charset="0"/>
              <a:cs typeface="Times New Roman" panose="02020603050405020304" pitchFamily="18" charset="0"/>
            </a:endParaRPr>
          </a:p>
        </p:txBody>
      </p:sp>
      <p:pic>
        <p:nvPicPr>
          <p:cNvPr id="9" name="Imag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85539" y="4221789"/>
            <a:ext cx="3196215" cy="2251180"/>
          </a:xfrm>
          <a:prstGeom prst="rect">
            <a:avLst/>
          </a:prstGeom>
        </p:spPr>
      </p:pic>
      <p:sp>
        <p:nvSpPr>
          <p:cNvPr id="10" name="ZoneTexte 9"/>
          <p:cNvSpPr txBox="1"/>
          <p:nvPr/>
        </p:nvSpPr>
        <p:spPr>
          <a:xfrm>
            <a:off x="7289718" y="5429113"/>
            <a:ext cx="1469248" cy="338554"/>
          </a:xfrm>
          <a:prstGeom prst="rect">
            <a:avLst/>
          </a:prstGeom>
          <a:noFill/>
          <a:ln>
            <a:solidFill>
              <a:schemeClr val="tx2">
                <a:lumMod val="50000"/>
              </a:schemeClr>
            </a:solidFill>
          </a:ln>
        </p:spPr>
        <p:txBody>
          <a:bodyPr wrap="none" rtlCol="0">
            <a:spAutoFit/>
          </a:bodyPr>
          <a:lstStyle/>
          <a:p>
            <a:r>
              <a:rPr lang="fr-FR" sz="1600" dirty="0" smtClean="0">
                <a:latin typeface="Times New Roman" panose="02020603050405020304" pitchFamily="18" charset="0"/>
                <a:cs typeface="Times New Roman" panose="02020603050405020304" pitchFamily="18" charset="0"/>
              </a:rPr>
              <a:t>Automatisation</a:t>
            </a:r>
            <a:endParaRPr lang="fr-F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36679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253583" y="-2015940"/>
            <a:ext cx="9144000" cy="2387600"/>
          </a:xfrm>
        </p:spPr>
        <p:txBody>
          <a:bodyPr>
            <a:normAutofit/>
          </a:bodyPr>
          <a:lstStyle/>
          <a:p>
            <a:r>
              <a:rPr lang="fr-FR" sz="2000" b="1" u="sng" dirty="0">
                <a:latin typeface="Times New Roman" panose="02020603050405020304" pitchFamily="18" charset="0"/>
                <a:cs typeface="Times New Roman" panose="02020603050405020304" pitchFamily="18" charset="0"/>
              </a:rPr>
              <a:t>3</a:t>
            </a:r>
            <a:r>
              <a:rPr lang="fr-FR" sz="2000" b="1" u="sng" dirty="0" smtClean="0">
                <a:latin typeface="Times New Roman" panose="02020603050405020304" pitchFamily="18" charset="0"/>
                <a:cs typeface="Times New Roman" panose="02020603050405020304" pitchFamily="18" charset="0"/>
              </a:rPr>
              <a:t>-Présentation de CrowdSec:</a:t>
            </a:r>
            <a:endParaRPr lang="fr-FR" sz="2000" b="1" u="sng" dirty="0">
              <a:latin typeface="Times New Roman" panose="02020603050405020304" pitchFamily="18" charset="0"/>
              <a:cs typeface="Times New Roman" panose="02020603050405020304" pitchFamily="18" charset="0"/>
            </a:endParaRPr>
          </a:p>
        </p:txBody>
      </p:sp>
      <p:sp>
        <p:nvSpPr>
          <p:cNvPr id="3" name="Sous-titre 2"/>
          <p:cNvSpPr>
            <a:spLocks noGrp="1"/>
          </p:cNvSpPr>
          <p:nvPr>
            <p:ph type="subTitle" idx="1"/>
          </p:nvPr>
        </p:nvSpPr>
        <p:spPr>
          <a:xfrm>
            <a:off x="0" y="371660"/>
            <a:ext cx="9144000" cy="1655762"/>
          </a:xfrm>
        </p:spPr>
        <p:txBody>
          <a:bodyPr/>
          <a:lstStyle/>
          <a:p>
            <a:pPr marL="285750" lvl="0" indent="-285750" algn="just">
              <a:lnSpc>
                <a:spcPct val="115000"/>
              </a:lnSpc>
              <a:spcBef>
                <a:spcPts val="0"/>
              </a:spcBef>
              <a:buFont typeface="Wingdings" panose="05000000000000000000" pitchFamily="2" charset="2"/>
              <a:buChar char="Ø"/>
            </a:pPr>
            <a:r>
              <a:rPr lang="fr-FR" sz="14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 </a:t>
            </a:r>
            <a:r>
              <a:rPr lang="fr-FR" sz="14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Qu’est ce que CrowdSec?</a:t>
            </a:r>
          </a:p>
          <a:p>
            <a:pPr lvl="0" algn="l">
              <a:lnSpc>
                <a:spcPct val="115000"/>
              </a:lnSpc>
              <a:spcBef>
                <a:spcPts val="0"/>
              </a:spcBef>
            </a:pPr>
            <a:r>
              <a:rPr lang="fr-FR" sz="14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CrowdSec </a:t>
            </a:r>
            <a:r>
              <a:rPr lang="fr-FR" sz="14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est une solution open-source de </a:t>
            </a:r>
            <a:r>
              <a:rPr lang="fr-FR" sz="1400" kern="100" dirty="0" err="1">
                <a:solidFill>
                  <a:prstClr val="black"/>
                </a:solidFill>
                <a:latin typeface="Times New Roman" panose="02020603050405020304" pitchFamily="18" charset="0"/>
                <a:ea typeface="DengXian" panose="02010600030101010101" pitchFamily="2" charset="-122"/>
                <a:cs typeface="Times New Roman" panose="02020603050405020304" pitchFamily="18" charset="0"/>
              </a:rPr>
              <a:t>cybersécurité</a:t>
            </a:r>
            <a:r>
              <a:rPr lang="fr-FR" sz="14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 qui détecte et sécurise les systèmes en analysant les logs pour identifier des comportements malveillants. Elle bloque automatiquement les adresses IP suspectes, enrichit les données de sécurité par le partage des menaces, et réagit à divers types d'attaques</a:t>
            </a:r>
            <a:r>
              <a:rPr lang="fr-FR" sz="1400"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a:t>
            </a:r>
            <a:endParaRPr lang="fr-FR" sz="14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a:p>
            <a:endParaRPr lang="fr-FR" dirty="0"/>
          </a:p>
        </p:txBody>
      </p:sp>
      <p:pic>
        <p:nvPicPr>
          <p:cNvPr id="8"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200" y="1473202"/>
            <a:ext cx="11555804" cy="5003798"/>
          </a:xfrm>
          <a:prstGeom prst="rect">
            <a:avLst/>
          </a:prstGeom>
        </p:spPr>
      </p:pic>
    </p:spTree>
    <p:extLst>
      <p:ext uri="{BB962C8B-B14F-4D97-AF65-F5344CB8AC3E}">
        <p14:creationId xmlns:p14="http://schemas.microsoft.com/office/powerpoint/2010/main" val="34054725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dirty="0"/>
          </a:p>
        </p:txBody>
      </p:sp>
      <p:sp>
        <p:nvSpPr>
          <p:cNvPr id="3" name="Sous-titre 2"/>
          <p:cNvSpPr>
            <a:spLocks noGrp="1"/>
          </p:cNvSpPr>
          <p:nvPr>
            <p:ph type="subTitle" idx="1"/>
          </p:nvPr>
        </p:nvSpPr>
        <p:spPr>
          <a:xfrm>
            <a:off x="1617722" y="5733766"/>
            <a:ext cx="9144000" cy="1655762"/>
          </a:xfrm>
        </p:spPr>
        <p:txBody>
          <a:bodyPr>
            <a:normAutofit/>
          </a:bodyPr>
          <a:lstStyle/>
          <a:p>
            <a:r>
              <a:rPr lang="fr-FR" sz="1400" dirty="0" smtClean="0"/>
              <a:t>CrowdSec s'intègre avec divers outils pour améliorer la sécurité. Avec WordPress, il utilise des plugins comme </a:t>
            </a:r>
            <a:r>
              <a:rPr lang="fr-FR" sz="1400" dirty="0" err="1" smtClean="0"/>
              <a:t>ShieldPro</a:t>
            </a:r>
            <a:r>
              <a:rPr lang="fr-FR" sz="1400" dirty="0" smtClean="0"/>
              <a:t> pour protéger les sites. Sur Windows, il renforce la sécurité via le pare-feu. Il s'interface aussi avec </a:t>
            </a:r>
            <a:r>
              <a:rPr lang="fr-FR" sz="1400" dirty="0" err="1" smtClean="0"/>
              <a:t>Splunk</a:t>
            </a:r>
            <a:r>
              <a:rPr lang="fr-FR" sz="1400" dirty="0" smtClean="0"/>
              <a:t> pour l'analyse de données et WHM pour automatiser la gestion sécurisée des serveurs.</a:t>
            </a:r>
            <a:endParaRPr lang="fr-FR" sz="1400" dirty="0"/>
          </a:p>
        </p:txBody>
      </p:sp>
      <p:sp>
        <p:nvSpPr>
          <p:cNvPr id="4" name="ZoneTexte 3"/>
          <p:cNvSpPr txBox="1"/>
          <p:nvPr/>
        </p:nvSpPr>
        <p:spPr>
          <a:xfrm>
            <a:off x="5423326" y="-115123"/>
            <a:ext cx="1197764" cy="369332"/>
          </a:xfrm>
          <a:prstGeom prst="rect">
            <a:avLst/>
          </a:prstGeom>
          <a:noFill/>
        </p:spPr>
        <p:txBody>
          <a:bodyPr wrap="none" rtlCol="0">
            <a:spAutoFit/>
          </a:bodyPr>
          <a:lstStyle/>
          <a:p>
            <a:r>
              <a:rPr lang="fr-FR" dirty="0" smtClean="0">
                <a:latin typeface="Times New Roman" panose="02020603050405020304" pitchFamily="18" charset="0"/>
                <a:cs typeface="Times New Roman" panose="02020603050405020304" pitchFamily="18" charset="0"/>
              </a:rPr>
              <a:t>Intégration</a:t>
            </a:r>
            <a:endParaRPr lang="fr-FR" dirty="0">
              <a:latin typeface="Times New Roman" panose="02020603050405020304" pitchFamily="18" charset="0"/>
              <a:cs typeface="Times New Roman" panose="02020603050405020304" pitchFamily="18" charset="0"/>
            </a:endParaRP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594" y="396039"/>
            <a:ext cx="11090005" cy="5148380"/>
          </a:xfrm>
          <a:prstGeom prst="rect">
            <a:avLst/>
          </a:prstGeom>
        </p:spPr>
      </p:pic>
    </p:spTree>
    <p:extLst>
      <p:ext uri="{BB962C8B-B14F-4D97-AF65-F5344CB8AC3E}">
        <p14:creationId xmlns:p14="http://schemas.microsoft.com/office/powerpoint/2010/main" val="19395411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09700" y="-1963737"/>
            <a:ext cx="9144000" cy="2387600"/>
          </a:xfrm>
        </p:spPr>
        <p:txBody>
          <a:bodyPr>
            <a:normAutofit/>
          </a:bodyPr>
          <a:lstStyle/>
          <a:p>
            <a:r>
              <a:rPr lang="fr-FR" sz="1800" dirty="0" smtClean="0">
                <a:latin typeface="Times New Roman" panose="02020603050405020304" pitchFamily="18" charset="0"/>
                <a:cs typeface="Times New Roman" panose="02020603050405020304" pitchFamily="18" charset="0"/>
              </a:rPr>
              <a:t>Fonctionnalités</a:t>
            </a:r>
            <a:endParaRPr lang="fr-FR" sz="1800" dirty="0">
              <a:latin typeface="Times New Roman" panose="02020603050405020304" pitchFamily="18" charset="0"/>
              <a:cs typeface="Times New Roman" panose="02020603050405020304" pitchFamily="18" charset="0"/>
            </a:endParaRPr>
          </a:p>
        </p:txBody>
      </p:sp>
      <p:sp>
        <p:nvSpPr>
          <p:cNvPr id="3" name="Sous-titre 2"/>
          <p:cNvSpPr>
            <a:spLocks noGrp="1"/>
          </p:cNvSpPr>
          <p:nvPr>
            <p:ph type="subTitle" idx="1"/>
          </p:nvPr>
        </p:nvSpPr>
        <p:spPr/>
        <p:txBody>
          <a:bodyPr/>
          <a:lstStyle/>
          <a:p>
            <a:endParaRPr lang="fr-FR"/>
          </a:p>
        </p:txBody>
      </p:sp>
      <p:pic>
        <p:nvPicPr>
          <p:cNvPr id="3074" name="Picture 2" descr="Crowdse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700" y="588964"/>
            <a:ext cx="9359900" cy="5273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30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p:txBody>
          <a:bodyPr/>
          <a:lstStyle/>
          <a:p>
            <a:endParaRPr lang="fr-FR" dirty="0"/>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00" y="131763"/>
            <a:ext cx="11874500" cy="6540500"/>
          </a:xfrm>
          <a:prstGeom prst="rect">
            <a:avLst/>
          </a:prstGeom>
        </p:spPr>
      </p:pic>
    </p:spTree>
    <p:extLst>
      <p:ext uri="{BB962C8B-B14F-4D97-AF65-F5344CB8AC3E}">
        <p14:creationId xmlns:p14="http://schemas.microsoft.com/office/powerpoint/2010/main" val="11060869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p:cNvSpPr txBox="1"/>
          <p:nvPr/>
        </p:nvSpPr>
        <p:spPr>
          <a:xfrm>
            <a:off x="0" y="-69272"/>
            <a:ext cx="6334556" cy="446276"/>
          </a:xfrm>
          <a:prstGeom prst="rect">
            <a:avLst/>
          </a:prstGeom>
          <a:noFill/>
        </p:spPr>
        <p:txBody>
          <a:bodyPr wrap="none" rtlCol="0">
            <a:spAutoFit/>
          </a:bodyPr>
          <a:lstStyle/>
          <a:p>
            <a:pPr marL="285750" lvl="0" indent="-285750" algn="ctr">
              <a:lnSpc>
                <a:spcPct val="115000"/>
              </a:lnSpc>
              <a:buFont typeface="Wingdings" panose="05000000000000000000" pitchFamily="2" charset="2"/>
              <a:buChar char="Ø"/>
            </a:pPr>
            <a:r>
              <a:rPr lang="fr-FR" sz="20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Intégration de CrowdSec sur notre pare-feu </a:t>
            </a:r>
            <a:r>
              <a:rPr lang="fr-FR" sz="2000" b="1" u="sng" kern="100" dirty="0" err="1"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pfsense</a:t>
            </a:r>
            <a:r>
              <a:rPr lang="fr-FR" sz="20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 </a:t>
            </a:r>
            <a:r>
              <a:rPr lang="fr-FR" sz="2000" b="1" u="sng"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 </a:t>
            </a:r>
            <a:endParaRPr lang="fr-FR" sz="20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p:txBody>
      </p:sp>
      <p:sp>
        <p:nvSpPr>
          <p:cNvPr id="7" name="ZoneTexte 6"/>
          <p:cNvSpPr txBox="1"/>
          <p:nvPr/>
        </p:nvSpPr>
        <p:spPr>
          <a:xfrm>
            <a:off x="4136306" y="431094"/>
            <a:ext cx="2734531" cy="352789"/>
          </a:xfrm>
          <a:prstGeom prst="rect">
            <a:avLst/>
          </a:prstGeom>
          <a:noFill/>
        </p:spPr>
        <p:txBody>
          <a:bodyPr wrap="none" rtlCol="0">
            <a:spAutoFit/>
          </a:bodyPr>
          <a:lstStyle/>
          <a:p>
            <a:pPr marL="57150" lvl="0" indent="-285750" algn="just">
              <a:lnSpc>
                <a:spcPct val="115000"/>
              </a:lnSpc>
              <a:buFont typeface="Wingdings" panose="05000000000000000000" pitchFamily="2" charset="2"/>
              <a:buChar char="v"/>
            </a:pPr>
            <a:r>
              <a:rPr lang="fr-FR" sz="1600" b="1"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Installation de CrowdSec </a:t>
            </a:r>
            <a:endParaRPr lang="fr-FR" sz="1400" b="1"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p:txBody>
      </p:sp>
      <p:pic>
        <p:nvPicPr>
          <p:cNvPr id="8"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007" y="837973"/>
            <a:ext cx="10088518" cy="2416442"/>
          </a:xfrm>
          <a:prstGeom prst="rect">
            <a:avLst/>
          </a:prstGeom>
        </p:spPr>
      </p:pic>
      <p:pic>
        <p:nvPicPr>
          <p:cNvPr id="4102" name="Picture 6" descr="install crowdsec pfsen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007" y="3507504"/>
            <a:ext cx="10187190" cy="3078006"/>
          </a:xfrm>
          <a:prstGeom prst="rect">
            <a:avLst/>
          </a:prstGeom>
          <a:noFill/>
          <a:extLst>
            <a:ext uri="{909E8E84-426E-40DD-AFC4-6F175D3DCCD1}">
              <a14:hiddenFill xmlns:a14="http://schemas.microsoft.com/office/drawing/2010/main">
                <a:solidFill>
                  <a:srgbClr val="FFFFFF"/>
                </a:solidFill>
              </a14:hiddenFill>
            </a:ext>
          </a:extLst>
        </p:spPr>
      </p:pic>
      <p:sp>
        <p:nvSpPr>
          <p:cNvPr id="10" name="AutoShape 8" descr="Icônes, logos, symboles Powershell ise– Téléchargement gratuit aux formats  PNG et SV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1" name="AutoShape 10" descr="Icônes, logos, symboles Powershell ise– Téléchargement gratuit aux formats  PNG et SV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41460618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p:txBody>
          <a:bodyPr/>
          <a:lstStyle/>
          <a:p>
            <a:endParaRPr lang="fr-FR" dirty="0"/>
          </a:p>
        </p:txBody>
      </p:sp>
      <p:sp>
        <p:nvSpPr>
          <p:cNvPr id="6" name="ZoneTexte 5"/>
          <p:cNvSpPr txBox="1"/>
          <p:nvPr/>
        </p:nvSpPr>
        <p:spPr>
          <a:xfrm>
            <a:off x="3662017" y="70217"/>
            <a:ext cx="4433906" cy="385362"/>
          </a:xfrm>
          <a:prstGeom prst="rect">
            <a:avLst/>
          </a:prstGeom>
          <a:noFill/>
        </p:spPr>
        <p:txBody>
          <a:bodyPr wrap="none" rtlCol="0">
            <a:spAutoFit/>
          </a:bodyPr>
          <a:lstStyle/>
          <a:p>
            <a:pPr marL="57150" lvl="0" indent="-285750" algn="just">
              <a:lnSpc>
                <a:spcPct val="115000"/>
              </a:lnSpc>
              <a:buFont typeface="Wingdings" panose="05000000000000000000" pitchFamily="2" charset="2"/>
              <a:buChar char="v"/>
            </a:pPr>
            <a:r>
              <a:rPr lang="fr-FR" b="1" dirty="0" smtClean="0">
                <a:solidFill>
                  <a:prstClr val="black"/>
                </a:solidFill>
                <a:latin typeface="Times New Roman" panose="02020603050405020304" pitchFamily="18" charset="0"/>
                <a:cs typeface="Times New Roman" panose="02020603050405020304" pitchFamily="18" charset="0"/>
              </a:rPr>
              <a:t>Configuration de CrowdSec sur </a:t>
            </a:r>
            <a:r>
              <a:rPr lang="fr-FR" b="1" dirty="0" err="1">
                <a:solidFill>
                  <a:prstClr val="black"/>
                </a:solidFill>
                <a:latin typeface="Times New Roman" panose="02020603050405020304" pitchFamily="18" charset="0"/>
                <a:cs typeface="Times New Roman" panose="02020603050405020304" pitchFamily="18" charset="0"/>
              </a:rPr>
              <a:t>p</a:t>
            </a:r>
            <a:r>
              <a:rPr lang="fr-FR" b="1" dirty="0" err="1" smtClean="0">
                <a:solidFill>
                  <a:prstClr val="black"/>
                </a:solidFill>
                <a:latin typeface="Times New Roman" panose="02020603050405020304" pitchFamily="18" charset="0"/>
                <a:cs typeface="Times New Roman" panose="02020603050405020304" pitchFamily="18" charset="0"/>
              </a:rPr>
              <a:t>fsense</a:t>
            </a:r>
            <a:r>
              <a:rPr lang="fr-FR" b="1" dirty="0" smtClean="0">
                <a:solidFill>
                  <a:prstClr val="black"/>
                </a:solidFill>
                <a:latin typeface="Times New Roman" panose="02020603050405020304" pitchFamily="18" charset="0"/>
                <a:cs typeface="Times New Roman" panose="02020603050405020304" pitchFamily="18" charset="0"/>
              </a:rPr>
              <a:t> </a:t>
            </a:r>
            <a:endParaRPr lang="fr-FR" b="1" dirty="0">
              <a:solidFill>
                <a:prstClr val="black"/>
              </a:solidFill>
              <a:latin typeface="Times New Roman" panose="02020603050405020304" pitchFamily="18" charset="0"/>
              <a:cs typeface="Times New Roman" panose="02020603050405020304" pitchFamily="18" charset="0"/>
            </a:endParaRPr>
          </a:p>
        </p:txBody>
      </p:sp>
      <p:pic>
        <p:nvPicPr>
          <p:cNvPr id="5130" name="Picture 10" descr="PfSense - Menu Services CrowdSe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1" y="583069"/>
            <a:ext cx="10149994" cy="2000251"/>
          </a:xfrm>
          <a:prstGeom prst="rect">
            <a:avLst/>
          </a:prstGeom>
          <a:noFill/>
          <a:extLst>
            <a:ext uri="{909E8E84-426E-40DD-AFC4-6F175D3DCCD1}">
              <a14:hiddenFill xmlns:a14="http://schemas.microsoft.com/office/drawing/2010/main">
                <a:solidFill>
                  <a:srgbClr val="FFFFFF"/>
                </a:solidFill>
              </a14:hiddenFill>
            </a:ext>
          </a:extLst>
        </p:spPr>
      </p:pic>
      <p:pic>
        <p:nvPicPr>
          <p:cNvPr id="5136" name="Picture 16" descr="Configurer CrowdSec sur PfSense - Etap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0" y="2743384"/>
            <a:ext cx="10149995" cy="3690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38733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p:txBody>
          <a:bodyPr/>
          <a:lstStyle/>
          <a:p>
            <a:endParaRPr lang="fr-FR"/>
          </a:p>
        </p:txBody>
      </p:sp>
      <p:sp>
        <p:nvSpPr>
          <p:cNvPr id="4" name="ZoneTexte 3"/>
          <p:cNvSpPr txBox="1"/>
          <p:nvPr/>
        </p:nvSpPr>
        <p:spPr>
          <a:xfrm>
            <a:off x="1418254" y="0"/>
            <a:ext cx="7813036" cy="385362"/>
          </a:xfrm>
          <a:prstGeom prst="rect">
            <a:avLst/>
          </a:prstGeom>
          <a:noFill/>
        </p:spPr>
        <p:txBody>
          <a:bodyPr wrap="none" rtlCol="0">
            <a:spAutoFit/>
          </a:bodyPr>
          <a:lstStyle/>
          <a:p>
            <a:pPr marL="57150" lvl="0" indent="-285750" algn="just">
              <a:lnSpc>
                <a:spcPct val="115000"/>
              </a:lnSpc>
              <a:buFont typeface="Wingdings" panose="05000000000000000000" pitchFamily="2" charset="2"/>
              <a:buChar char="v"/>
            </a:pPr>
            <a:r>
              <a:rPr lang="fr-FR" b="1" dirty="0" smtClean="0">
                <a:solidFill>
                  <a:prstClr val="black"/>
                </a:solidFill>
                <a:latin typeface="Times New Roman" panose="02020603050405020304" pitchFamily="18" charset="0"/>
                <a:cs typeface="Times New Roman" panose="02020603050405020304" pitchFamily="18" charset="0"/>
              </a:rPr>
              <a:t>Confirmation de l’intégration sur </a:t>
            </a:r>
            <a:r>
              <a:rPr lang="fr-FR" b="1" dirty="0" err="1" smtClean="0">
                <a:solidFill>
                  <a:prstClr val="black"/>
                </a:solidFill>
                <a:latin typeface="Times New Roman" panose="02020603050405020304" pitchFamily="18" charset="0"/>
                <a:cs typeface="Times New Roman" panose="02020603050405020304" pitchFamily="18" charset="0"/>
              </a:rPr>
              <a:t>pfsense</a:t>
            </a:r>
            <a:r>
              <a:rPr lang="fr-FR" b="1" dirty="0" smtClean="0">
                <a:solidFill>
                  <a:prstClr val="black"/>
                </a:solidFill>
                <a:latin typeface="Times New Roman" panose="02020603050405020304" pitchFamily="18" charset="0"/>
                <a:cs typeface="Times New Roman" panose="02020603050405020304" pitchFamily="18" charset="0"/>
              </a:rPr>
              <a:t> avec l’état général de CrowdSec </a:t>
            </a:r>
            <a:endParaRPr lang="fr-FR" b="1" dirty="0">
              <a:solidFill>
                <a:prstClr val="black"/>
              </a:solidFill>
              <a:latin typeface="Times New Roman" panose="02020603050405020304" pitchFamily="18" charset="0"/>
              <a:cs typeface="Times New Roman" panose="02020603050405020304" pitchFamily="18" charset="0"/>
            </a:endParaRPr>
          </a:p>
        </p:txBody>
      </p:sp>
      <p:pic>
        <p:nvPicPr>
          <p:cNvPr id="6146" name="Picture 2" descr="https://www.it-connect.fr/wp-content-itc/uploads/2024/02/PfSense-CrowdSec-Status-800x28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 y="425813"/>
            <a:ext cx="10083799" cy="251423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s://www.it-connect.fr/wp-content-itc/uploads/2024/02/CrowdSec-Liste-des-collections-PfSense-800x35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1" y="3160712"/>
            <a:ext cx="10083799" cy="3506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75767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384300" y="-1989137"/>
            <a:ext cx="9144000" cy="2387600"/>
          </a:xfrm>
        </p:spPr>
        <p:txBody>
          <a:bodyPr>
            <a:normAutofit/>
          </a:bodyPr>
          <a:lstStyle/>
          <a:p>
            <a:r>
              <a:rPr lang="fr-FR" sz="2400" b="1" u="sng" dirty="0" smtClean="0">
                <a:latin typeface="Times New Roman" panose="02020603050405020304" pitchFamily="18" charset="0"/>
                <a:cs typeface="Times New Roman" panose="02020603050405020304" pitchFamily="18" charset="0"/>
              </a:rPr>
              <a:t>4-Résultats et bénéfices:</a:t>
            </a:r>
            <a:endParaRPr lang="fr-FR" sz="2400" b="1" u="sng" dirty="0">
              <a:latin typeface="Times New Roman" panose="02020603050405020304" pitchFamily="18" charset="0"/>
              <a:cs typeface="Times New Roman" panose="02020603050405020304" pitchFamily="18" charset="0"/>
            </a:endParaRPr>
          </a:p>
        </p:txBody>
      </p:sp>
      <p:sp>
        <p:nvSpPr>
          <p:cNvPr id="3" name="Sous-titre 2"/>
          <p:cNvSpPr>
            <a:spLocks noGrp="1"/>
          </p:cNvSpPr>
          <p:nvPr>
            <p:ph type="subTitle" idx="1"/>
          </p:nvPr>
        </p:nvSpPr>
        <p:spPr>
          <a:xfrm>
            <a:off x="0" y="398463"/>
            <a:ext cx="9144000" cy="1655762"/>
          </a:xfrm>
        </p:spPr>
        <p:txBody>
          <a:bodyPr/>
          <a:lstStyle/>
          <a:p>
            <a:pPr marL="285750" lvl="0" indent="-285750" algn="just">
              <a:lnSpc>
                <a:spcPct val="115000"/>
              </a:lnSpc>
              <a:spcBef>
                <a:spcPts val="0"/>
              </a:spcBef>
              <a:buFont typeface="Wingdings" panose="05000000000000000000" pitchFamily="2" charset="2"/>
              <a:buChar char="Ø"/>
            </a:pPr>
            <a:r>
              <a:rPr lang="fr-FR" sz="2000" b="1" u="sng"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Résultats:</a:t>
            </a:r>
          </a:p>
          <a:p>
            <a:pPr lvl="0" algn="just">
              <a:lnSpc>
                <a:spcPct val="115000"/>
              </a:lnSpc>
              <a:spcBef>
                <a:spcPts val="0"/>
              </a:spcBef>
            </a:pPr>
            <a:endParaRPr lang="fr-FR" sz="18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a:p>
            <a:pPr lvl="0" algn="just">
              <a:lnSpc>
                <a:spcPct val="115000"/>
              </a:lnSpc>
              <a:spcBef>
                <a:spcPts val="0"/>
              </a:spcBef>
            </a:pPr>
            <a:endParaRPr lang="fr-FR" sz="18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a:p>
            <a:endParaRPr lang="fr-FR" dirty="0"/>
          </a:p>
        </p:txBody>
      </p:sp>
      <p:sp>
        <p:nvSpPr>
          <p:cNvPr id="5" name="ZoneTexte 4"/>
          <p:cNvSpPr txBox="1"/>
          <p:nvPr/>
        </p:nvSpPr>
        <p:spPr>
          <a:xfrm>
            <a:off x="2733104" y="879727"/>
            <a:ext cx="5754781" cy="385362"/>
          </a:xfrm>
          <a:prstGeom prst="rect">
            <a:avLst/>
          </a:prstGeom>
          <a:noFill/>
        </p:spPr>
        <p:txBody>
          <a:bodyPr wrap="none" rtlCol="0">
            <a:spAutoFit/>
          </a:bodyPr>
          <a:lstStyle/>
          <a:p>
            <a:pPr marL="57150" lvl="0" indent="-285750" algn="just">
              <a:lnSpc>
                <a:spcPct val="115000"/>
              </a:lnSpc>
              <a:buFont typeface="Wingdings" panose="05000000000000000000" pitchFamily="2" charset="2"/>
              <a:buChar char="v"/>
            </a:pPr>
            <a:r>
              <a:rPr lang="fr-FR" b="1" u="sng"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Analyse et statistique des fichiers logs par CrowdSec  </a:t>
            </a:r>
            <a:endParaRPr lang="fr-FR"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p:txBody>
      </p:sp>
      <p:pic>
        <p:nvPicPr>
          <p:cNvPr id="8194" name="Picture 2" descr="PfSense - CrowdSec Metr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803" y="1562101"/>
            <a:ext cx="11354697" cy="433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60913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5562600" y="1122363"/>
            <a:ext cx="5105400" cy="795337"/>
          </a:xfrm>
        </p:spPr>
        <p:txBody>
          <a:bodyPr>
            <a:normAutofit fontScale="90000"/>
          </a:bodyPr>
          <a:lstStyle/>
          <a:p>
            <a:pPr marL="57150" lvl="0" indent="-285750">
              <a:lnSpc>
                <a:spcPct val="115000"/>
              </a:lnSpc>
              <a:spcBef>
                <a:spcPts val="0"/>
              </a:spcBef>
            </a:pPr>
            <a:r>
              <a:rPr lang="fr-FR" sz="14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
            </a:r>
            <a:br>
              <a:rPr lang="fr-FR" sz="1400"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br>
            <a:endParaRPr lang="fr-FR" dirty="0"/>
          </a:p>
        </p:txBody>
      </p:sp>
      <p:sp>
        <p:nvSpPr>
          <p:cNvPr id="3" name="Sous-titre 2"/>
          <p:cNvSpPr>
            <a:spLocks noGrp="1"/>
          </p:cNvSpPr>
          <p:nvPr>
            <p:ph type="subTitle" idx="1"/>
          </p:nvPr>
        </p:nvSpPr>
        <p:spPr>
          <a:xfrm>
            <a:off x="1320800" y="2315060"/>
            <a:ext cx="9347200" cy="561672"/>
          </a:xfrm>
        </p:spPr>
        <p:txBody>
          <a:bodyPr>
            <a:normAutofit/>
          </a:bodyPr>
          <a:lstStyle/>
          <a:p>
            <a:pPr algn="l"/>
            <a:r>
              <a:rPr lang="fr-FR" sz="1400" b="0" i="0" dirty="0" smtClean="0">
                <a:solidFill>
                  <a:srgbClr val="3F3F46"/>
                </a:solidFill>
                <a:effectLst/>
                <a:latin typeface="Times New Roman" panose="02020603050405020304" pitchFamily="18" charset="0"/>
                <a:cs typeface="Times New Roman" panose="02020603050405020304" pitchFamily="18" charset="0"/>
              </a:rPr>
              <a:t>Le scan a permis de détecter que le </a:t>
            </a:r>
            <a:r>
              <a:rPr lang="fr-FR" sz="1400" b="1" i="0" dirty="0" smtClean="0">
                <a:solidFill>
                  <a:srgbClr val="3F3F46"/>
                </a:solidFill>
                <a:effectLst/>
                <a:latin typeface="Times New Roman" panose="02020603050405020304" pitchFamily="18" charset="0"/>
                <a:cs typeface="Times New Roman" panose="02020603050405020304" pitchFamily="18" charset="0"/>
              </a:rPr>
              <a:t>port 80/</a:t>
            </a:r>
            <a:r>
              <a:rPr lang="fr-FR" sz="1400" b="1" i="0" dirty="0" err="1" smtClean="0">
                <a:solidFill>
                  <a:srgbClr val="3F3F46"/>
                </a:solidFill>
                <a:effectLst/>
                <a:latin typeface="Times New Roman" panose="02020603050405020304" pitchFamily="18" charset="0"/>
                <a:cs typeface="Times New Roman" panose="02020603050405020304" pitchFamily="18" charset="0"/>
              </a:rPr>
              <a:t>tcp</a:t>
            </a:r>
            <a:r>
              <a:rPr lang="fr-FR" sz="1400" b="1" i="0" dirty="0" smtClean="0">
                <a:solidFill>
                  <a:srgbClr val="3F3F46"/>
                </a:solidFill>
                <a:effectLst/>
                <a:latin typeface="Times New Roman" panose="02020603050405020304" pitchFamily="18" charset="0"/>
                <a:cs typeface="Times New Roman" panose="02020603050405020304" pitchFamily="18" charset="0"/>
              </a:rPr>
              <a:t> (http) </a:t>
            </a:r>
            <a:r>
              <a:rPr lang="fr-FR" sz="1400" b="0" i="0" dirty="0" smtClean="0">
                <a:solidFill>
                  <a:srgbClr val="3F3F46"/>
                </a:solidFill>
                <a:effectLst/>
                <a:latin typeface="Times New Roman" panose="02020603050405020304" pitchFamily="18" charset="0"/>
                <a:cs typeface="Times New Roman" panose="02020603050405020304" pitchFamily="18" charset="0"/>
              </a:rPr>
              <a:t>était ouvert. C'est normal, car une règle de NAT redirige les flux HTTP vers </a:t>
            </a:r>
            <a:r>
              <a:rPr lang="fr-FR" sz="1400" dirty="0" smtClean="0">
                <a:solidFill>
                  <a:srgbClr val="3F3F46"/>
                </a:solidFill>
                <a:latin typeface="Times New Roman" panose="02020603050405020304" pitchFamily="18" charset="0"/>
                <a:cs typeface="Times New Roman" panose="02020603050405020304" pitchFamily="18" charset="0"/>
              </a:rPr>
              <a:t>le </a:t>
            </a:r>
            <a:r>
              <a:rPr lang="fr-FR" sz="1400" b="0" i="0" dirty="0" smtClean="0">
                <a:solidFill>
                  <a:srgbClr val="3F3F46"/>
                </a:solidFill>
                <a:effectLst/>
                <a:latin typeface="Times New Roman" panose="02020603050405020304" pitchFamily="18" charset="0"/>
                <a:cs typeface="Times New Roman" panose="02020603050405020304" pitchFamily="18" charset="0"/>
              </a:rPr>
              <a:t>serveur Web en DMZ. Il n'a pas obtenu d'autres réponses</a:t>
            </a:r>
            <a:endParaRPr lang="fr-FR" sz="1400" dirty="0">
              <a:latin typeface="Times New Roman" panose="02020603050405020304" pitchFamily="18" charset="0"/>
              <a:cs typeface="Times New Roman" panose="02020603050405020304" pitchFamily="18" charset="0"/>
            </a:endParaRPr>
          </a:p>
        </p:txBody>
      </p:sp>
      <p:sp>
        <p:nvSpPr>
          <p:cNvPr id="4" name="ZoneTexte 3"/>
          <p:cNvSpPr txBox="1"/>
          <p:nvPr/>
        </p:nvSpPr>
        <p:spPr>
          <a:xfrm>
            <a:off x="3237765" y="92451"/>
            <a:ext cx="4649671" cy="385362"/>
          </a:xfrm>
          <a:prstGeom prst="rect">
            <a:avLst/>
          </a:prstGeom>
          <a:noFill/>
        </p:spPr>
        <p:txBody>
          <a:bodyPr wrap="none" rtlCol="0">
            <a:spAutoFit/>
          </a:bodyPr>
          <a:lstStyle/>
          <a:p>
            <a:pPr marL="57150" lvl="0" indent="-285750" algn="just">
              <a:lnSpc>
                <a:spcPct val="115000"/>
              </a:lnSpc>
              <a:buFont typeface="Wingdings" panose="05000000000000000000" pitchFamily="2" charset="2"/>
              <a:buChar char="v"/>
            </a:pPr>
            <a:r>
              <a:rPr lang="fr-FR" b="1" u="sng"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Simulation d’un scan de ports sur </a:t>
            </a:r>
            <a:r>
              <a:rPr lang="fr-FR" b="1" u="sng" kern="100" dirty="0" err="1"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pfsense</a:t>
            </a:r>
            <a:r>
              <a:rPr lang="fr-FR" b="1" u="sng"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a:t>
            </a:r>
            <a:endParaRPr lang="fr-FR"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800" y="1419292"/>
            <a:ext cx="9550400" cy="598839"/>
          </a:xfrm>
          <a:prstGeom prst="rect">
            <a:avLst/>
          </a:prstGeom>
        </p:spPr>
      </p:pic>
      <p:pic>
        <p:nvPicPr>
          <p:cNvPr id="9218" name="Picture 2" descr="Scan de port avec nmap - Exemp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3125225"/>
            <a:ext cx="10896600" cy="33877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p:cNvSpPr txBox="1"/>
          <p:nvPr/>
        </p:nvSpPr>
        <p:spPr>
          <a:xfrm>
            <a:off x="1414701" y="748319"/>
            <a:ext cx="9092746" cy="523220"/>
          </a:xfrm>
          <a:prstGeom prst="rect">
            <a:avLst/>
          </a:prstGeom>
          <a:noFill/>
        </p:spPr>
        <p:txBody>
          <a:bodyPr wrap="none" rtlCol="0">
            <a:spAutoFit/>
          </a:bodyPr>
          <a:lstStyle/>
          <a:p>
            <a:r>
              <a:rPr lang="fr-FR" sz="1400" b="0" i="0" dirty="0" smtClean="0">
                <a:solidFill>
                  <a:srgbClr val="3F3F46"/>
                </a:solidFill>
                <a:effectLst/>
                <a:latin typeface="Times New Roman" panose="02020603050405020304" pitchFamily="18" charset="0"/>
                <a:cs typeface="Times New Roman" panose="02020603050405020304" pitchFamily="18" charset="0"/>
              </a:rPr>
              <a:t>A partir de l'</a:t>
            </a:r>
            <a:r>
              <a:rPr lang="fr-FR" sz="1400" b="1" i="0" dirty="0" smtClean="0">
                <a:solidFill>
                  <a:srgbClr val="3F3F46"/>
                </a:solidFill>
                <a:effectLst/>
                <a:latin typeface="Times New Roman" panose="02020603050405020304" pitchFamily="18" charset="0"/>
                <a:cs typeface="Times New Roman" panose="02020603050405020304" pitchFamily="18" charset="0"/>
              </a:rPr>
              <a:t>outil NMAP</a:t>
            </a:r>
            <a:r>
              <a:rPr lang="fr-FR" sz="1400" b="0" i="0" dirty="0" smtClean="0">
                <a:solidFill>
                  <a:srgbClr val="3F3F46"/>
                </a:solidFill>
                <a:effectLst/>
                <a:latin typeface="Times New Roman" panose="02020603050405020304" pitchFamily="18" charset="0"/>
                <a:cs typeface="Times New Roman" panose="02020603050405020304" pitchFamily="18" charset="0"/>
              </a:rPr>
              <a:t>, nous allons pouvoir </a:t>
            </a:r>
            <a:r>
              <a:rPr lang="fr-FR" sz="1400" b="1" i="0" dirty="0" smtClean="0">
                <a:solidFill>
                  <a:srgbClr val="3F3F46"/>
                </a:solidFill>
                <a:effectLst/>
                <a:latin typeface="Times New Roman" panose="02020603050405020304" pitchFamily="18" charset="0"/>
                <a:cs typeface="Times New Roman" panose="02020603050405020304" pitchFamily="18" charset="0"/>
              </a:rPr>
              <a:t>réaliser un scan de ports sur l'adresse IP de l'interface WAN du </a:t>
            </a:r>
            <a:r>
              <a:rPr lang="fr-FR" sz="1400" b="1" i="0" dirty="0" err="1" smtClean="0">
                <a:solidFill>
                  <a:srgbClr val="3F3F46"/>
                </a:solidFill>
                <a:effectLst/>
                <a:latin typeface="Times New Roman" panose="02020603050405020304" pitchFamily="18" charset="0"/>
                <a:cs typeface="Times New Roman" panose="02020603050405020304" pitchFamily="18" charset="0"/>
              </a:rPr>
              <a:t>PfSense</a:t>
            </a:r>
            <a:r>
              <a:rPr lang="fr-FR" sz="1400" b="0" i="0" dirty="0" smtClean="0">
                <a:solidFill>
                  <a:srgbClr val="3F3F46"/>
                </a:solidFill>
                <a:effectLst/>
                <a:latin typeface="Times New Roman" panose="02020603050405020304" pitchFamily="18" charset="0"/>
                <a:cs typeface="Times New Roman" panose="02020603050405020304" pitchFamily="18" charset="0"/>
              </a:rPr>
              <a:t>.</a:t>
            </a:r>
          </a:p>
          <a:p>
            <a:r>
              <a:rPr lang="fr-FR" sz="1400" b="0" i="0" dirty="0" smtClean="0">
                <a:solidFill>
                  <a:srgbClr val="3F3F46"/>
                </a:solidFill>
                <a:effectLst/>
                <a:latin typeface="Times New Roman" panose="02020603050405020304" pitchFamily="18" charset="0"/>
                <a:cs typeface="Times New Roman" panose="02020603050405020304" pitchFamily="18" charset="0"/>
              </a:rPr>
              <a:t> Dans cet exemple, il s'agit de "1</a:t>
            </a:r>
            <a:r>
              <a:rPr lang="fr-FR" sz="1400" b="1" i="0" dirty="0" smtClean="0">
                <a:solidFill>
                  <a:srgbClr val="3F3F46"/>
                </a:solidFill>
                <a:effectLst/>
                <a:latin typeface="Times New Roman" panose="02020603050405020304" pitchFamily="18" charset="0"/>
                <a:cs typeface="Times New Roman" panose="02020603050405020304" pitchFamily="18" charset="0"/>
              </a:rPr>
              <a:t>92.168.1.60</a:t>
            </a:r>
            <a:r>
              <a:rPr lang="fr-FR" sz="1400" b="0" i="0" dirty="0" smtClean="0">
                <a:solidFill>
                  <a:srgbClr val="3F3F46"/>
                </a:solidFill>
                <a:effectLst/>
                <a:latin typeface="Times New Roman" panose="02020603050405020304" pitchFamily="18" charset="0"/>
                <a:cs typeface="Times New Roman" panose="02020603050405020304" pitchFamily="18" charset="0"/>
              </a:rPr>
              <a:t>", mais en production, il s'agirait de votre adresse IP publique.</a:t>
            </a:r>
            <a:endParaRPr lang="fr-FR"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53028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p:txBody>
          <a:bodyPr/>
          <a:lstStyle/>
          <a:p>
            <a:endParaRPr lang="fr-FR" dirty="0"/>
          </a:p>
        </p:txBody>
      </p:sp>
      <p:sp>
        <p:nvSpPr>
          <p:cNvPr id="4" name="ZoneTexte 3"/>
          <p:cNvSpPr txBox="1"/>
          <p:nvPr/>
        </p:nvSpPr>
        <p:spPr>
          <a:xfrm>
            <a:off x="4762761" y="17520"/>
            <a:ext cx="2611997" cy="446276"/>
          </a:xfrm>
          <a:prstGeom prst="rect">
            <a:avLst/>
          </a:prstGeom>
          <a:noFill/>
        </p:spPr>
        <p:txBody>
          <a:bodyPr wrap="none" rtlCol="0">
            <a:spAutoFit/>
          </a:bodyPr>
          <a:lstStyle/>
          <a:p>
            <a:pPr marL="285750" lvl="0" indent="-285750" algn="just">
              <a:lnSpc>
                <a:spcPct val="115000"/>
              </a:lnSpc>
              <a:buFont typeface="Wingdings" panose="05000000000000000000" pitchFamily="2" charset="2"/>
              <a:buChar char="Ø"/>
            </a:pPr>
            <a:r>
              <a:rPr lang="fr-FR" sz="20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Sécurité renforcée </a:t>
            </a:r>
            <a:r>
              <a:rPr lang="fr-FR" sz="2000" b="1" u="sng"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a:t>
            </a:r>
            <a:endParaRPr lang="fr-FR" sz="20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p:txBody>
      </p:sp>
      <p:sp>
        <p:nvSpPr>
          <p:cNvPr id="5" name="ZoneTexte 4"/>
          <p:cNvSpPr txBox="1"/>
          <p:nvPr/>
        </p:nvSpPr>
        <p:spPr>
          <a:xfrm>
            <a:off x="2501900" y="528220"/>
            <a:ext cx="7828169" cy="369332"/>
          </a:xfrm>
          <a:prstGeom prst="rect">
            <a:avLst/>
          </a:prstGeom>
          <a:noFill/>
        </p:spPr>
        <p:txBody>
          <a:bodyPr wrap="none" rtlCol="0">
            <a:spAutoFit/>
          </a:bodyPr>
          <a:lstStyle/>
          <a:p>
            <a:r>
              <a:rPr lang="fr-FR" sz="1600" b="0" i="0" dirty="0" smtClean="0">
                <a:solidFill>
                  <a:srgbClr val="3F3F46"/>
                </a:solidFill>
                <a:effectLst/>
                <a:latin typeface="Times New Roman" panose="02020603050405020304" pitchFamily="18" charset="0"/>
                <a:cs typeface="Times New Roman" panose="02020603050405020304" pitchFamily="18" charset="0"/>
              </a:rPr>
              <a:t>Cette adresse IP a été bannie à cause du scan de port, comme indiqué : </a:t>
            </a:r>
            <a:r>
              <a:rPr lang="fr-FR" sz="1600" b="1" i="0" dirty="0" smtClean="0">
                <a:solidFill>
                  <a:srgbClr val="3F3F46"/>
                </a:solidFill>
                <a:effectLst/>
                <a:latin typeface="Times New Roman" panose="02020603050405020304" pitchFamily="18" charset="0"/>
                <a:cs typeface="Times New Roman" panose="02020603050405020304" pitchFamily="18" charset="0"/>
              </a:rPr>
              <a:t>pf-scan-</a:t>
            </a:r>
            <a:r>
              <a:rPr lang="fr-FR" sz="1600" b="1" i="0" dirty="0" err="1" smtClean="0">
                <a:solidFill>
                  <a:srgbClr val="3F3F46"/>
                </a:solidFill>
                <a:effectLst/>
                <a:latin typeface="Times New Roman" panose="02020603050405020304" pitchFamily="18" charset="0"/>
                <a:cs typeface="Times New Roman" panose="02020603050405020304" pitchFamily="18" charset="0"/>
              </a:rPr>
              <a:t>multi_ports</a:t>
            </a:r>
            <a:r>
              <a:rPr lang="fr-FR" b="0" i="0" dirty="0" smtClean="0">
                <a:solidFill>
                  <a:srgbClr val="3F3F46"/>
                </a:solidFill>
                <a:effectLst/>
                <a:latin typeface="PT Sans"/>
              </a:rPr>
              <a:t>.</a:t>
            </a:r>
            <a:endParaRPr lang="fr-FR" dirty="0"/>
          </a:p>
        </p:txBody>
      </p:sp>
      <p:pic>
        <p:nvPicPr>
          <p:cNvPr id="10242" name="Picture 2" descr="PfSense - Adresse IP bannie par CrowdSe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21" y="1185114"/>
            <a:ext cx="11713079" cy="4459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70040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4446577" y="177800"/>
            <a:ext cx="2137380" cy="446276"/>
          </a:xfrm>
          <a:prstGeom prst="rect">
            <a:avLst/>
          </a:prstGeom>
          <a:noFill/>
        </p:spPr>
        <p:txBody>
          <a:bodyPr wrap="none" rtlCol="0">
            <a:spAutoFit/>
          </a:bodyPr>
          <a:lstStyle/>
          <a:p>
            <a:pPr marL="285750" lvl="0" indent="-285750" algn="just">
              <a:lnSpc>
                <a:spcPct val="115000"/>
              </a:lnSpc>
              <a:buFont typeface="Wingdings" panose="05000000000000000000" pitchFamily="2" charset="2"/>
              <a:buChar char="Ø"/>
            </a:pPr>
            <a:r>
              <a:rPr lang="fr-FR" sz="2000" b="1"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 Améliorations </a:t>
            </a:r>
          </a:p>
        </p:txBody>
      </p:sp>
      <p:sp>
        <p:nvSpPr>
          <p:cNvPr id="7" name="ZoneTexte 6"/>
          <p:cNvSpPr txBox="1"/>
          <p:nvPr/>
        </p:nvSpPr>
        <p:spPr>
          <a:xfrm>
            <a:off x="3040180" y="827224"/>
            <a:ext cx="5545020" cy="307777"/>
          </a:xfrm>
          <a:prstGeom prst="rect">
            <a:avLst/>
          </a:prstGeom>
          <a:noFill/>
        </p:spPr>
        <p:txBody>
          <a:bodyPr wrap="square" rtlCol="0">
            <a:spAutoFit/>
          </a:bodyPr>
          <a:lstStyle/>
          <a:p>
            <a:r>
              <a:rPr lang="fr-FR" sz="1400" b="0" i="0" dirty="0" smtClean="0">
                <a:solidFill>
                  <a:srgbClr val="3F3F46"/>
                </a:solidFill>
                <a:effectLst/>
                <a:latin typeface="Times New Roman" panose="02020603050405020304" pitchFamily="18" charset="0"/>
                <a:cs typeface="Times New Roman" panose="02020603050405020304" pitchFamily="18" charset="0"/>
              </a:rPr>
              <a:t>L'information est bien entendu visible à partir de la ligne de commande</a:t>
            </a:r>
            <a:r>
              <a:rPr lang="fr-FR" sz="1400" b="1" i="0" dirty="0" smtClean="0">
                <a:solidFill>
                  <a:srgbClr val="3F3F46"/>
                </a:solidFill>
                <a:effectLst/>
                <a:latin typeface="Times New Roman" panose="02020603050405020304" pitchFamily="18" charset="0"/>
                <a:cs typeface="Times New Roman" panose="02020603050405020304" pitchFamily="18" charset="0"/>
              </a:rPr>
              <a:t> :</a:t>
            </a:r>
            <a:endParaRPr lang="fr-FR" sz="1400" b="1" dirty="0">
              <a:latin typeface="Times New Roman" panose="02020603050405020304" pitchFamily="18" charset="0"/>
              <a:cs typeface="Times New Roman" panose="02020603050405020304" pitchFamily="18" charset="0"/>
            </a:endParaRPr>
          </a:p>
        </p:txBody>
      </p:sp>
      <p:pic>
        <p:nvPicPr>
          <p:cNvPr id="8"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5622" y="1431636"/>
            <a:ext cx="8569119" cy="684858"/>
          </a:xfrm>
          <a:prstGeom prst="rect">
            <a:avLst/>
          </a:prstGeom>
        </p:spPr>
      </p:pic>
      <p:sp>
        <p:nvSpPr>
          <p:cNvPr id="9" name="ZoneTexte 8"/>
          <p:cNvSpPr txBox="1"/>
          <p:nvPr/>
        </p:nvSpPr>
        <p:spPr>
          <a:xfrm>
            <a:off x="2030177" y="2993607"/>
            <a:ext cx="6970178" cy="523220"/>
          </a:xfrm>
          <a:prstGeom prst="rect">
            <a:avLst/>
          </a:prstGeom>
          <a:noFill/>
        </p:spPr>
        <p:txBody>
          <a:bodyPr wrap="none" rtlCol="0">
            <a:spAutoFit/>
          </a:bodyPr>
          <a:lstStyle/>
          <a:p>
            <a:r>
              <a:rPr lang="fr-FR" sz="1400" b="0" i="0" dirty="0" smtClean="0">
                <a:solidFill>
                  <a:srgbClr val="3F3F46"/>
                </a:solidFill>
                <a:effectLst/>
                <a:latin typeface="Times New Roman" panose="02020603050405020304" pitchFamily="18" charset="0"/>
                <a:cs typeface="Times New Roman" panose="02020603050405020304" pitchFamily="18" charset="0"/>
              </a:rPr>
              <a:t>Nous pouvons constater que CrowdSec est opérationnel et réactif sur notre pare-feu </a:t>
            </a:r>
            <a:r>
              <a:rPr lang="fr-FR" sz="1400" b="0" i="0" dirty="0" err="1" smtClean="0">
                <a:solidFill>
                  <a:srgbClr val="3F3F46"/>
                </a:solidFill>
                <a:effectLst/>
                <a:latin typeface="Times New Roman" panose="02020603050405020304" pitchFamily="18" charset="0"/>
                <a:cs typeface="Times New Roman" panose="02020603050405020304" pitchFamily="18" charset="0"/>
              </a:rPr>
              <a:t>PfSense</a:t>
            </a:r>
            <a:r>
              <a:rPr lang="fr-FR" sz="1400" b="0" i="0" dirty="0" smtClean="0">
                <a:solidFill>
                  <a:srgbClr val="3F3F46"/>
                </a:solidFill>
                <a:effectLst/>
                <a:latin typeface="Times New Roman" panose="02020603050405020304" pitchFamily="18" charset="0"/>
                <a:cs typeface="Times New Roman" panose="02020603050405020304" pitchFamily="18" charset="0"/>
              </a:rPr>
              <a:t> ! </a:t>
            </a:r>
          </a:p>
          <a:p>
            <a:r>
              <a:rPr lang="fr-FR" sz="1400" b="0" i="0" dirty="0" smtClean="0">
                <a:solidFill>
                  <a:srgbClr val="3F3F46"/>
                </a:solidFill>
                <a:effectLst/>
                <a:latin typeface="Times New Roman" panose="02020603050405020304" pitchFamily="18" charset="0"/>
                <a:cs typeface="Times New Roman" panose="02020603050405020304" pitchFamily="18" charset="0"/>
              </a:rPr>
              <a:t>C'est un gros plus pour la protection de notre réseau !</a:t>
            </a:r>
            <a:endParaRPr lang="fr-FR" sz="1400" dirty="0">
              <a:latin typeface="Times New Roman" panose="02020603050405020304" pitchFamily="18" charset="0"/>
              <a:cs typeface="Times New Roman" panose="02020603050405020304" pitchFamily="18" charset="0"/>
            </a:endParaRPr>
          </a:p>
        </p:txBody>
      </p:sp>
      <p:pic>
        <p:nvPicPr>
          <p:cNvPr id="11266" name="Picture 2" descr="PfSense - Exemple de cscl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269" y="3886200"/>
            <a:ext cx="10640069"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2159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397000" y="-960437"/>
            <a:ext cx="9144000" cy="2387600"/>
          </a:xfrm>
        </p:spPr>
        <p:txBody>
          <a:bodyPr/>
          <a:lstStyle/>
          <a:p>
            <a:pPr lvl="0">
              <a:lnSpc>
                <a:spcPct val="115000"/>
              </a:lnSpc>
              <a:spcBef>
                <a:spcPts val="0"/>
              </a:spcBef>
            </a:pPr>
            <a:r>
              <a:rPr lang="fr-FR" sz="2400" b="1" u="sng" kern="100" dirty="0" smtClean="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5-Conclusion:</a:t>
            </a:r>
            <a:r>
              <a:rPr lang="fr-FR" sz="1600" b="1"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
            </a:r>
            <a:br>
              <a:rPr lang="fr-FR" sz="1600" b="1"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br>
            <a:endParaRPr lang="fr-FR" dirty="0"/>
          </a:p>
        </p:txBody>
      </p:sp>
      <p:sp>
        <p:nvSpPr>
          <p:cNvPr id="4" name="ZoneTexte 3"/>
          <p:cNvSpPr txBox="1"/>
          <p:nvPr/>
        </p:nvSpPr>
        <p:spPr>
          <a:xfrm>
            <a:off x="4458391" y="1393826"/>
            <a:ext cx="2614818" cy="369332"/>
          </a:xfrm>
          <a:prstGeom prst="rect">
            <a:avLst/>
          </a:prstGeom>
          <a:noFill/>
        </p:spPr>
        <p:txBody>
          <a:bodyPr wrap="none" rtlCol="0">
            <a:spAutoFit/>
          </a:bodyPr>
          <a:lstStyle/>
          <a:p>
            <a:pPr lvl="0"/>
            <a:r>
              <a:rPr lang="fr-FR" dirty="0">
                <a:solidFill>
                  <a:prstClr val="black"/>
                </a:solidFill>
                <a:latin typeface="Times New Roman" panose="02020603050405020304" pitchFamily="18" charset="0"/>
                <a:cs typeface="Times New Roman" panose="02020603050405020304" pitchFamily="18" charset="0"/>
              </a:rPr>
              <a:t>Merci pour votre attention</a:t>
            </a:r>
            <a:endParaRPr lang="fr-FR" dirty="0">
              <a:solidFill>
                <a:prstClr val="black"/>
              </a:solidFill>
              <a:latin typeface="Times New Roman" panose="02020603050405020304" pitchFamily="18" charset="0"/>
              <a:cs typeface="Times New Roman" panose="02020603050405020304" pitchFamily="18" charset="0"/>
            </a:endParaRPr>
          </a:p>
        </p:txBody>
      </p:sp>
      <p:sp>
        <p:nvSpPr>
          <p:cNvPr id="7" name="ZoneTexte 6"/>
          <p:cNvSpPr txBox="1"/>
          <p:nvPr/>
        </p:nvSpPr>
        <p:spPr>
          <a:xfrm>
            <a:off x="4323262" y="558800"/>
            <a:ext cx="3291478" cy="446276"/>
          </a:xfrm>
          <a:prstGeom prst="rect">
            <a:avLst/>
          </a:prstGeom>
          <a:noFill/>
        </p:spPr>
        <p:txBody>
          <a:bodyPr wrap="none" rtlCol="0">
            <a:spAutoFit/>
          </a:bodyPr>
          <a:lstStyle/>
          <a:p>
            <a:pPr marL="285750" lvl="0" indent="-285750" algn="just">
              <a:lnSpc>
                <a:spcPct val="115000"/>
              </a:lnSpc>
              <a:buFont typeface="Wingdings" panose="05000000000000000000" pitchFamily="2" charset="2"/>
              <a:buChar char="Ø"/>
            </a:pPr>
            <a:r>
              <a:rPr lang="fr-FR" sz="2000" b="1"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Remerciements et crédits </a:t>
            </a:r>
            <a:endParaRPr lang="fr-FR" sz="2000" b="1"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p:txBody>
      </p:sp>
      <p:pic>
        <p:nvPicPr>
          <p:cNvPr id="8" name="Image 7" descr="Une image contenant croquis, dessin, Dessin au trait, illustration">
            <a:extLst>
              <a:ext uri="{FF2B5EF4-FFF2-40B4-BE49-F238E27FC236}">
                <a16:creationId xmlns="" xmlns:a16="http://schemas.microsoft.com/office/drawing/2014/main" xmlns:lc="http://schemas.openxmlformats.org/drawingml/2006/lockedCanvas" id="{ECA59D09-A562-6E22-2348-3637AB435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3216" y="1835627"/>
            <a:ext cx="6665168" cy="3332584"/>
          </a:xfrm>
          <a:prstGeom prst="rect">
            <a:avLst/>
          </a:prstGeom>
        </p:spPr>
      </p:pic>
      <p:pic>
        <p:nvPicPr>
          <p:cNvPr id="9" name="Image 8" descr="Une image contenant Police, calligraphie, logo, typographie">
            <a:extLst>
              <a:ext uri="{FF2B5EF4-FFF2-40B4-BE49-F238E27FC236}">
                <a16:creationId xmlns="" xmlns:a16="http://schemas.microsoft.com/office/drawing/2014/main" xmlns:lc="http://schemas.openxmlformats.org/drawingml/2006/lockedCanvas" id="{BE3D532F-5200-9916-F719-C949EF058B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760720"/>
            <a:ext cx="2578608" cy="1097280"/>
          </a:xfrm>
          <a:prstGeom prst="rect">
            <a:avLst/>
          </a:prstGeom>
        </p:spPr>
      </p:pic>
      <p:sp>
        <p:nvSpPr>
          <p:cNvPr id="10" name="Rectangle 9"/>
          <p:cNvSpPr/>
          <p:nvPr/>
        </p:nvSpPr>
        <p:spPr>
          <a:xfrm>
            <a:off x="3174999" y="6184900"/>
            <a:ext cx="8889437" cy="369332"/>
          </a:xfrm>
          <a:prstGeom prst="rect">
            <a:avLst/>
          </a:prstGeom>
        </p:spPr>
        <p:txBody>
          <a:bodyPr wrap="square">
            <a:spAutoFit/>
          </a:bodyPr>
          <a:lstStyle/>
          <a:p>
            <a:pPr lvl="0"/>
            <a:r>
              <a:rPr lang="fr-FR" dirty="0">
                <a:solidFill>
                  <a:prstClr val="black"/>
                </a:solidFill>
                <a:latin typeface="Times New Roman" panose="02020603050405020304" pitchFamily="18" charset="0"/>
                <a:cs typeface="Times New Roman" panose="02020603050405020304" pitchFamily="18" charset="0"/>
              </a:rPr>
              <a:t>Un grand merci à mes formateurs : </a:t>
            </a:r>
            <a:r>
              <a:rPr lang="fr-FR" dirty="0" smtClean="0">
                <a:solidFill>
                  <a:prstClr val="black"/>
                </a:solidFill>
                <a:latin typeface="Times New Roman" panose="02020603050405020304" pitchFamily="18" charset="0"/>
                <a:cs typeface="Times New Roman" panose="02020603050405020304" pitchFamily="18" charset="0"/>
              </a:rPr>
              <a:t>M. EL ALAMA et D.MIMOUNI</a:t>
            </a:r>
            <a:endParaRPr lang="fr-FR"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32924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482600" y="1409700"/>
            <a:ext cx="11049000" cy="3962400"/>
          </a:xfrm>
        </p:spPr>
        <p:txBody>
          <a:bodyPr>
            <a:normAutofit/>
          </a:bodyPr>
          <a:lstStyle/>
          <a:p>
            <a:r>
              <a:rPr lang="fr-FR" dirty="0" smtClean="0">
                <a:latin typeface="Times New Roman" panose="02020603050405020304" pitchFamily="18" charset="0"/>
                <a:cs typeface="Times New Roman" panose="02020603050405020304" pitchFamily="18" charset="0"/>
              </a:rPr>
              <a:t>En intégrant CrowdSec d'abord sur notre pare-feu, nous renforçons immédiatement la sécurité en bloquant les adresses IP malveillantes et en filtrant les comportements suspects. Cette première étape crée une barrière solide contre les cyber menaces, tout en permettant une meilleure visibilité sur le trafic. Par la suite, l'intégration de CrowdSec sur d'autres éléments de notre infrastructure garantit une protection cohérente et réactive à l'échelle. Ainsi, nous optimisons non seulement la sécurité de nos systèmes, mais aussi leur </a:t>
            </a:r>
            <a:r>
              <a:rPr lang="fr-FR" dirty="0" err="1" smtClean="0">
                <a:latin typeface="Times New Roman" panose="02020603050405020304" pitchFamily="18" charset="0"/>
                <a:cs typeface="Times New Roman" panose="02020603050405020304" pitchFamily="18" charset="0"/>
              </a:rPr>
              <a:t>scalabilité</a:t>
            </a:r>
            <a:r>
              <a:rPr lang="fr-FR" dirty="0" smtClean="0">
                <a:latin typeface="Times New Roman" panose="02020603050405020304" pitchFamily="18" charset="0"/>
                <a:cs typeface="Times New Roman" panose="02020603050405020304" pitchFamily="18" charset="0"/>
              </a:rPr>
              <a:t> et leur performance. </a:t>
            </a:r>
          </a:p>
          <a:p>
            <a:r>
              <a:rPr lang="fr-FR" dirty="0" smtClean="0">
                <a:latin typeface="Times New Roman" panose="02020603050405020304" pitchFamily="18" charset="0"/>
                <a:cs typeface="Times New Roman" panose="02020603050405020304" pitchFamily="18" charset="0"/>
              </a:rPr>
              <a:t>Ce projet est également enrichissant en termes de compétences en sécurité et de gestion d'infrastructure réseau.</a:t>
            </a:r>
            <a:endParaRPr lang="fr-FR" dirty="0">
              <a:latin typeface="Times New Roman" panose="02020603050405020304" pitchFamily="18" charset="0"/>
              <a:cs typeface="Times New Roman" panose="02020603050405020304" pitchFamily="18" charset="0"/>
            </a:endParaRPr>
          </a:p>
        </p:txBody>
      </p:sp>
      <p:sp>
        <p:nvSpPr>
          <p:cNvPr id="4" name="ZoneTexte 3"/>
          <p:cNvSpPr txBox="1"/>
          <p:nvPr/>
        </p:nvSpPr>
        <p:spPr>
          <a:xfrm>
            <a:off x="4812791" y="0"/>
            <a:ext cx="1938351" cy="417871"/>
          </a:xfrm>
          <a:prstGeom prst="rect">
            <a:avLst/>
          </a:prstGeom>
          <a:noFill/>
        </p:spPr>
        <p:txBody>
          <a:bodyPr wrap="none" rtlCol="0">
            <a:spAutoFit/>
          </a:bodyPr>
          <a:lstStyle/>
          <a:p>
            <a:pPr marL="285750" lvl="0" indent="-285750" algn="just">
              <a:lnSpc>
                <a:spcPct val="115000"/>
              </a:lnSpc>
              <a:buFont typeface="Wingdings" panose="05000000000000000000" pitchFamily="2" charset="2"/>
              <a:buChar char="Ø"/>
            </a:pPr>
            <a:r>
              <a:rPr lang="fr-FR" sz="20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rPr>
              <a:t>Mot de la fin </a:t>
            </a:r>
            <a:endParaRPr lang="fr-FR" sz="2000" b="1" u="sng" kern="100" dirty="0">
              <a:solidFill>
                <a:prstClr val="black"/>
              </a:solidFill>
              <a:latin typeface="Times New Roman" panose="02020603050405020304" pitchFamily="18"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351108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xmlns="" id="{4328AA35-B631-B485-A9C4-86C1118205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753" r="16092"/>
          <a:stretch/>
        </p:blipFill>
        <p:spPr bwMode="auto">
          <a:xfrm>
            <a:off x="3124199" y="820315"/>
            <a:ext cx="5838319" cy="4818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35053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spTree>
    <p:extLst>
      <p:ext uri="{BB962C8B-B14F-4D97-AF65-F5344CB8AC3E}">
        <p14:creationId xmlns:p14="http://schemas.microsoft.com/office/powerpoint/2010/main" val="3202204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spTree>
    <p:extLst>
      <p:ext uri="{BB962C8B-B14F-4D97-AF65-F5344CB8AC3E}">
        <p14:creationId xmlns:p14="http://schemas.microsoft.com/office/powerpoint/2010/main" val="2400629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fr-FR"/>
          </a:p>
        </p:txBody>
      </p:sp>
      <p:sp>
        <p:nvSpPr>
          <p:cNvPr id="3" name="Sous-titre 2"/>
          <p:cNvSpPr>
            <a:spLocks noGrp="1"/>
          </p:cNvSpPr>
          <p:nvPr>
            <p:ph type="subTitle" idx="1"/>
          </p:nvPr>
        </p:nvSpPr>
        <p:spPr/>
        <p:txBody>
          <a:bodyPr/>
          <a:lstStyle/>
          <a:p>
            <a:endParaRPr lang="fr-FR"/>
          </a:p>
        </p:txBody>
      </p:sp>
    </p:spTree>
    <p:extLst>
      <p:ext uri="{BB962C8B-B14F-4D97-AF65-F5344CB8AC3E}">
        <p14:creationId xmlns:p14="http://schemas.microsoft.com/office/powerpoint/2010/main" val="312415891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3267</TotalTime>
  <Words>612</Words>
  <Application>Microsoft Office PowerPoint</Application>
  <PresentationFormat>Grand écran</PresentationFormat>
  <Paragraphs>104</Paragraphs>
  <Slides>23</Slides>
  <Notes>0</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23</vt:i4>
      </vt:variant>
    </vt:vector>
  </HeadingPairs>
  <TitlesOfParts>
    <vt:vector size="33" baseType="lpstr">
      <vt:lpstr>Algerian</vt:lpstr>
      <vt:lpstr>Arial</vt:lpstr>
      <vt:lpstr>Calibri</vt:lpstr>
      <vt:lpstr>Calibri Light</vt:lpstr>
      <vt:lpstr>Century Gothic</vt:lpstr>
      <vt:lpstr>DengXian</vt:lpstr>
      <vt:lpstr>PT Sans</vt:lpstr>
      <vt:lpstr>Times New Roman</vt:lpstr>
      <vt:lpstr>Wingdings</vt:lpstr>
      <vt:lpstr>Thème Office</vt:lpstr>
      <vt:lpstr>Projet d’administrateur d’infrastructure sécurisé:  </vt:lpstr>
      <vt:lpstr>Sommaire: </vt:lpstr>
      <vt:lpstr> </vt:lpstr>
      <vt:lpstr> </vt:lpstr>
      <vt:lpstr> </vt:lpstr>
      <vt:lpstr>2- Objet du renforcement de la sécurité de l’infrastructure:</vt:lpstr>
      <vt:lpstr>3-Présentation de CrowdSec:</vt:lpstr>
      <vt:lpstr>Présentation PowerPoint</vt:lpstr>
      <vt:lpstr>Fonctionnalités</vt:lpstr>
      <vt:lpstr>Présentation PowerPoint</vt:lpstr>
      <vt:lpstr>Présentation PowerPoint</vt:lpstr>
      <vt:lpstr>Présentation PowerPoint</vt:lpstr>
      <vt:lpstr>Présentation PowerPoint</vt:lpstr>
      <vt:lpstr>4-Résultats et bénéfices:</vt:lpstr>
      <vt:lpstr> </vt:lpstr>
      <vt:lpstr>Présentation PowerPoint</vt:lpstr>
      <vt:lpstr>Présentation PowerPoint</vt:lpstr>
      <vt:lpstr>5-Conclusion: </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Lenovo</dc:creator>
  <cp:lastModifiedBy>Lenovo</cp:lastModifiedBy>
  <cp:revision>89</cp:revision>
  <dcterms:created xsi:type="dcterms:W3CDTF">2024-09-21T12:11:11Z</dcterms:created>
  <dcterms:modified xsi:type="dcterms:W3CDTF">2024-09-23T18:38:54Z</dcterms:modified>
</cp:coreProperties>
</file>